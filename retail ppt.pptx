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Bricolage Grotesque" panose="020B0604020202020204" charset="0"/>
      <p:regular r:id="rId21"/>
    </p:embeddedFont>
    <p:embeddedFont>
      <p:font typeface="Bricolage Grotesque Bold" panose="020B0604020202020204" charset="0"/>
      <p:regular r:id="rId22"/>
    </p:embeddedFont>
    <p:embeddedFont>
      <p:font typeface="Bricolage Grotesque Light" panose="020B0604020202020204" charset="0"/>
      <p:regular r:id="rId23"/>
    </p:embeddedFont>
    <p:embeddedFont>
      <p:font typeface="Libre Baskerville Bold" panose="020B0604020202020204"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15" autoAdjust="0"/>
    <p:restoredTop sz="94610"/>
  </p:normalViewPr>
  <p:slideViewPr>
    <p:cSldViewPr snapToGrid="0" snapToObjects="1">
      <p:cViewPr varScale="1">
        <p:scale>
          <a:sx n="85" d="100"/>
          <a:sy n="85" d="100"/>
        </p:scale>
        <p:origin x="9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9908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03D2B"/>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4F1E8"/>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4F1E8"/>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pic>
        <p:nvPicPr>
          <p:cNvPr id="5"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853579"/>
            <a:ext cx="6296860" cy="2771378"/>
          </a:xfrm>
          <a:prstGeom prst="rect">
            <a:avLst/>
          </a:prstGeom>
          <a:noFill/>
          <a:ln/>
        </p:spPr>
        <p:txBody>
          <a:bodyPr wrap="square" lIns="0" tIns="0" rIns="0" bIns="0" rtlCol="0" anchor="t">
            <a:normAutofit/>
          </a:bodyPr>
          <a:lstStyle/>
          <a:p>
            <a:pPr marL="0" indent="0" algn="l">
              <a:lnSpc>
                <a:spcPct val="104000"/>
              </a:lnSpc>
              <a:buNone/>
            </a:pPr>
            <a:r>
              <a:rPr lang="en-US" sz="4350" b="1" kern="0" spc="-175" dirty="0">
                <a:solidFill>
                  <a:srgbClr val="FFFFFF"/>
                </a:solidFill>
                <a:latin typeface="Libre Baskerville Bold" pitchFamily="34" charset="0"/>
                <a:ea typeface="Libre Baskerville Bold" pitchFamily="34" charset="-122"/>
                <a:cs typeface="Libre Baskerville Bold" pitchFamily="34" charset="-120"/>
              </a:rPr>
              <a:t>Analyze E-Commerce Sales to Improve Customer Conversion &amp; Retention </a:t>
            </a:r>
            <a:endParaRPr lang="en-US" sz="4350" dirty="0"/>
          </a:p>
        </p:txBody>
      </p:sp>
      <p:sp>
        <p:nvSpPr>
          <p:cNvPr id="4" name="Text 1"/>
          <p:cNvSpPr/>
          <p:nvPr/>
        </p:nvSpPr>
        <p:spPr>
          <a:xfrm>
            <a:off x="661475" y="3829745"/>
            <a:ext cx="6906444" cy="260052"/>
          </a:xfrm>
          <a:prstGeom prst="rect">
            <a:avLst/>
          </a:prstGeom>
          <a:noFill/>
          <a:ln/>
        </p:spPr>
        <p:txBody>
          <a:bodyPr wrap="none" lIns="0" tIns="0" rIns="0" bIns="0" rtlCol="0" anchor="t"/>
          <a:lstStyle/>
          <a:p>
            <a:pPr marL="0" indent="0" algn="l">
              <a:lnSpc>
                <a:spcPct val="108000"/>
              </a:lnSpc>
              <a:buNone/>
            </a:pPr>
            <a:r>
              <a:rPr lang="en-US" sz="1550" b="1" i="1" kern="0" spc="-13" dirty="0">
                <a:solidFill>
                  <a:srgbClr val="FFFFFF"/>
                </a:solidFill>
                <a:latin typeface="Bricolage Grotesque Bold" pitchFamily="34" charset="0"/>
                <a:ea typeface="Bricolage Grotesque Bold" pitchFamily="34" charset="-122"/>
                <a:cs typeface="Bricolage Grotesque Bold" pitchFamily="34" charset="-120"/>
              </a:rPr>
              <a:t>NAME : BRINDHA.K</a:t>
            </a:r>
            <a:endParaRPr lang="en-US" sz="1550" dirty="0"/>
          </a:p>
        </p:txBody>
      </p:sp>
      <p:sp>
        <p:nvSpPr>
          <p:cNvPr id="5" name="Text 2"/>
          <p:cNvSpPr/>
          <p:nvPr/>
        </p:nvSpPr>
        <p:spPr>
          <a:xfrm>
            <a:off x="661475" y="4243388"/>
            <a:ext cx="6296860" cy="1347391"/>
          </a:xfrm>
          <a:prstGeom prst="rect">
            <a:avLst/>
          </a:prstGeom>
          <a:noFill/>
          <a:ln/>
        </p:spPr>
        <p:txBody>
          <a:bodyPr wrap="square" lIns="0" tIns="0" rIns="0" bIns="0" rtlCol="0" anchor="t"/>
          <a:lstStyle/>
          <a:p>
            <a:pPr marL="0" indent="0" algn="l">
              <a:lnSpc>
                <a:spcPct val="108000"/>
              </a:lnSpc>
              <a:spcAft>
                <a:spcPts val="1200"/>
              </a:spcAft>
              <a:buNone/>
            </a:pPr>
            <a:r>
              <a:rPr lang="en-US" sz="1550" b="1" i="1" kern="0" spc="-13" dirty="0">
                <a:solidFill>
                  <a:srgbClr val="FFFFFF"/>
                </a:solidFill>
                <a:latin typeface="Bricolage Grotesque Bold" pitchFamily="34" charset="0"/>
                <a:ea typeface="Bricolage Grotesque Bold" pitchFamily="34" charset="-122"/>
                <a:cs typeface="Bricolage Grotesque Bold" pitchFamily="34" charset="-120"/>
              </a:rPr>
              <a:t>ENROLLMENT NUMBER :EN12025086071</a:t>
            </a:r>
            <a:endParaRPr lang="en-US" sz="1550" dirty="0"/>
          </a:p>
          <a:p>
            <a:pPr marL="0" indent="0" algn="l">
              <a:lnSpc>
                <a:spcPct val="108000"/>
              </a:lnSpc>
              <a:spcAft>
                <a:spcPts val="1200"/>
              </a:spcAft>
              <a:buNone/>
            </a:pPr>
            <a:r>
              <a:rPr lang="en-US" sz="1550" b="1" i="1" kern="0" spc="-13" dirty="0">
                <a:solidFill>
                  <a:srgbClr val="FFFFFF"/>
                </a:solidFill>
                <a:latin typeface="Bricolage Grotesque Bold" pitchFamily="34" charset="0"/>
                <a:ea typeface="Bricolage Grotesque Bold" pitchFamily="34" charset="-122"/>
                <a:cs typeface="Bricolage Grotesque Bold" pitchFamily="34" charset="-120"/>
              </a:rPr>
              <a:t>BATCH CODE :DA764S76</a:t>
            </a:r>
            <a:endParaRPr lang="en-US" sz="1550" dirty="0"/>
          </a:p>
          <a:p>
            <a:pPr marL="0" indent="0" algn="l">
              <a:lnSpc>
                <a:spcPct val="108000"/>
              </a:lnSpc>
              <a:buNone/>
            </a:pPr>
            <a:r>
              <a:rPr lang="en-US" sz="1550" b="1" i="1" kern="0" spc="-13" dirty="0">
                <a:solidFill>
                  <a:srgbClr val="FFFFFF"/>
                </a:solidFill>
                <a:latin typeface="Bricolage Grotesque Bold" pitchFamily="34" charset="0"/>
                <a:ea typeface="Bricolage Grotesque Bold" pitchFamily="34" charset="-122"/>
                <a:cs typeface="Bricolage Grotesque Bold" pitchFamily="34" charset="-120"/>
              </a:rPr>
              <a:t>COURSE :DATA SCIENCE AND ML WITH GEN AI ADVANCED PROGRAM</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524470"/>
            <a:ext cx="6296860" cy="543520"/>
          </a:xfrm>
          <a:prstGeom prst="rect">
            <a:avLst/>
          </a:prstGeom>
          <a:noFill/>
          <a:ln/>
        </p:spPr>
        <p:txBody>
          <a:bodyPr wrap="none" lIns="0" tIns="0" rIns="0" bIns="0" rtlCol="0" anchor="t"/>
          <a:lstStyle/>
          <a:p>
            <a:pPr marL="0" indent="0" algn="l">
              <a:lnSpc>
                <a:spcPct val="104000"/>
              </a:lnSpc>
              <a:buNone/>
            </a:pPr>
            <a:r>
              <a:rPr lang="en-US" sz="3400" b="1" kern="0" spc="-137" dirty="0">
                <a:solidFill>
                  <a:srgbClr val="FFFFFF"/>
                </a:solidFill>
                <a:latin typeface="Libre Baskerville Bold" pitchFamily="34" charset="0"/>
                <a:ea typeface="Libre Baskerville Bold" pitchFamily="34" charset="-122"/>
                <a:cs typeface="Libre Baskerville Bold" pitchFamily="34" charset="-120"/>
              </a:rPr>
              <a:t>Project Overview:</a:t>
            </a:r>
            <a:endParaRPr lang="en-US" sz="3400" dirty="0"/>
          </a:p>
        </p:txBody>
      </p:sp>
      <p:sp>
        <p:nvSpPr>
          <p:cNvPr id="4" name="Text 1"/>
          <p:cNvSpPr/>
          <p:nvPr/>
        </p:nvSpPr>
        <p:spPr>
          <a:xfrm>
            <a:off x="5233360" y="1308100"/>
            <a:ext cx="6296860" cy="2050157"/>
          </a:xfrm>
          <a:prstGeom prst="rect">
            <a:avLst/>
          </a:prstGeom>
          <a:noFill/>
          <a:ln/>
        </p:spPr>
        <p:txBody>
          <a:bodyPr wrap="square" lIns="0" tIns="0" rIns="0" bIns="0" rtlCol="0" anchor="t">
            <a:normAutofit/>
          </a:bodyPr>
          <a:lstStyle/>
          <a:p>
            <a:pPr marL="0" indent="0" algn="l">
              <a:lnSpc>
                <a:spcPct val="112000"/>
              </a:lnSpc>
              <a:spcAft>
                <a:spcPts val="1400"/>
              </a:spcAft>
              <a:buNone/>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This project presents an end-to-end analytical overhaul of an e-commerce platform operating across India. By integrating multi-table relational data across customer demographics, orders, logistics, and product catalogs, the project translates raw transactional data into actionable business intelligence. The pipeline spans data ingestion, exploratory data analysis (EDA), database development, statistical hypothesis testing, interactive dashboards, and machine learning feature selection.</a:t>
            </a:r>
            <a:endParaRPr lang="en-US" sz="1350" dirty="0"/>
          </a:p>
          <a:p>
            <a:pPr marL="0" indent="0" algn="l">
              <a:lnSpc>
                <a:spcPct val="112000"/>
              </a:lnSpc>
              <a:buNone/>
            </a:pPr>
            <a:r>
              <a:rPr lang="en-US" sz="1350" b="1" kern="0" spc="-14" dirty="0">
                <a:solidFill>
                  <a:srgbClr val="FFFFFF"/>
                </a:solidFill>
                <a:latin typeface="Bricolage Grotesque Bold" pitchFamily="34" charset="0"/>
                <a:ea typeface="Bricolage Grotesque Bold" pitchFamily="34" charset="-122"/>
                <a:cs typeface="Bricolage Grotesque Bold" pitchFamily="34" charset="-120"/>
              </a:rPr>
              <a:t>Project Objective</a:t>
            </a:r>
            <a:endParaRPr lang="en-US" sz="1350" dirty="0"/>
          </a:p>
        </p:txBody>
      </p:sp>
      <p:sp>
        <p:nvSpPr>
          <p:cNvPr id="5" name="Text 2"/>
          <p:cNvSpPr/>
          <p:nvPr/>
        </p:nvSpPr>
        <p:spPr>
          <a:xfrm>
            <a:off x="5233360" y="3538339"/>
            <a:ext cx="6296860" cy="2795191"/>
          </a:xfrm>
          <a:prstGeom prst="rect">
            <a:avLst/>
          </a:prstGeom>
          <a:noFill/>
          <a:ln/>
        </p:spPr>
        <p:txBody>
          <a:bodyPr wrap="square" lIns="0" tIns="0" rIns="0" bIns="0" rtlCol="0" anchor="t">
            <a:normAutofit/>
          </a:bodyPr>
          <a:lstStyle/>
          <a:p>
            <a:pPr marL="274320" indent="-274320" algn="l">
              <a:lnSpc>
                <a:spcPct val="112000"/>
              </a:lnSpc>
              <a:buSzPct val="100000"/>
              <a:buChar char="•"/>
            </a:pPr>
            <a:r>
              <a:rPr lang="en-US" sz="1350" b="1" kern="0" spc="-14" dirty="0">
                <a:solidFill>
                  <a:srgbClr val="FFFFFF"/>
                </a:solidFill>
                <a:latin typeface="Bricolage Grotesque Bold" pitchFamily="34" charset="0"/>
                <a:ea typeface="Bricolage Grotesque Bold" pitchFamily="34" charset="-122"/>
                <a:cs typeface="Bricolage Grotesque Bold" pitchFamily="34" charset="-120"/>
              </a:rPr>
              <a:t>Operational Optimization:</a:t>
            </a: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Identify supply chain bottlenecks and eliminate Fulfillment Cycle Time breaches against established Service Level Agreements (SLAs).</a:t>
            </a:r>
            <a:endParaRPr lang="en-US" sz="1350" dirty="0"/>
          </a:p>
          <a:p>
            <a:pPr marL="274320" indent="-274320" algn="l">
              <a:lnSpc>
                <a:spcPct val="112000"/>
              </a:lnSpc>
              <a:buSzPct val="100000"/>
              <a:buChar char="•"/>
            </a:pPr>
            <a:r>
              <a:rPr lang="en-US" sz="1350" b="1" kern="0" spc="-14" dirty="0">
                <a:solidFill>
                  <a:srgbClr val="FFFFFF"/>
                </a:solidFill>
                <a:latin typeface="Bricolage Grotesque Bold" pitchFamily="34" charset="0"/>
                <a:ea typeface="Bricolage Grotesque Bold" pitchFamily="34" charset="-122"/>
                <a:cs typeface="Bricolage Grotesque Bold" pitchFamily="34" charset="-120"/>
              </a:rPr>
              <a:t>Customer Retention &amp; Segmentation:</a:t>
            </a: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Uncover demographic drivers of Average Order Value (AOV) and target high-value age cohorts.</a:t>
            </a:r>
            <a:endParaRPr lang="en-US" sz="1350" dirty="0"/>
          </a:p>
          <a:p>
            <a:pPr marL="274320" indent="-274320" algn="l">
              <a:lnSpc>
                <a:spcPct val="112000"/>
              </a:lnSpc>
              <a:buSzPct val="100000"/>
              <a:buChar char="•"/>
            </a:pPr>
            <a:r>
              <a:rPr lang="en-US" sz="1350" b="1" kern="0" spc="-14" dirty="0">
                <a:solidFill>
                  <a:srgbClr val="FFFFFF"/>
                </a:solidFill>
                <a:latin typeface="Bricolage Grotesque Bold" pitchFamily="34" charset="0"/>
                <a:ea typeface="Bricolage Grotesque Bold" pitchFamily="34" charset="-122"/>
                <a:cs typeface="Bricolage Grotesque Bold" pitchFamily="34" charset="-120"/>
              </a:rPr>
              <a:t>Commercial &amp; Pricing Strategy:</a:t>
            </a: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Assess discount elasticity, optimize pricing tiers, and isolate top-performing revenue brands.</a:t>
            </a:r>
            <a:endParaRPr lang="en-US" sz="1350" dirty="0"/>
          </a:p>
          <a:p>
            <a:pPr marL="274320" indent="-274320" algn="l">
              <a:lnSpc>
                <a:spcPct val="112000"/>
              </a:lnSpc>
              <a:buSzPct val="100000"/>
              <a:buChar char="•"/>
            </a:pPr>
            <a:r>
              <a:rPr lang="en-US" sz="1350" b="1" kern="0" spc="-14" dirty="0">
                <a:solidFill>
                  <a:srgbClr val="FFFFFF"/>
                </a:solidFill>
                <a:latin typeface="Bricolage Grotesque Bold" pitchFamily="34" charset="0"/>
                <a:ea typeface="Bricolage Grotesque Bold" pitchFamily="34" charset="-122"/>
                <a:cs typeface="Bricolage Grotesque Bold" pitchFamily="34" charset="-120"/>
              </a:rPr>
              <a:t>Satisfaction Driver Mapping:</a:t>
            </a: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Scientifically quantify key friction points (delays, payment channels) driving negative customer reviews.</a:t>
            </a:r>
            <a:endParaRPr lang="en-US" sz="1350" dirty="0"/>
          </a:p>
          <a:p>
            <a:pPr marL="274320" indent="-274320" algn="l">
              <a:lnSpc>
                <a:spcPct val="112000"/>
              </a:lnSpc>
              <a:buSzPct val="100000"/>
              <a:buChar char="•"/>
            </a:pPr>
            <a:r>
              <a:rPr lang="en-US" sz="1350" b="1" kern="0" spc="-14" dirty="0">
                <a:solidFill>
                  <a:srgbClr val="FFFFFF"/>
                </a:solidFill>
                <a:latin typeface="Bricolage Grotesque Bold" pitchFamily="34" charset="0"/>
                <a:ea typeface="Bricolage Grotesque Bold" pitchFamily="34" charset="-122"/>
                <a:cs typeface="Bricolage Grotesque Bold" pitchFamily="34" charset="-120"/>
              </a:rPr>
              <a:t>Decision Support Architecture:</a:t>
            </a: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Build interactive, executive-ready Excel and Power BI dashboards backed by scalable MySQL models.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295896"/>
            <a:ext cx="10868745" cy="531614"/>
          </a:xfrm>
          <a:prstGeom prst="rect">
            <a:avLst/>
          </a:prstGeom>
          <a:noFill/>
          <a:ln/>
        </p:spPr>
        <p:txBody>
          <a:bodyPr wrap="none" lIns="0" tIns="0" rIns="0" bIns="0" rtlCol="0" anchor="t"/>
          <a:lstStyle/>
          <a:p>
            <a:pPr marL="0" indent="0" algn="l">
              <a:lnSpc>
                <a:spcPct val="104000"/>
              </a:lnSpc>
              <a:buNone/>
            </a:pPr>
            <a:r>
              <a:rPr lang="en-US" sz="3300" b="1" kern="0" spc="-134" dirty="0">
                <a:solidFill>
                  <a:srgbClr val="FFFFFF"/>
                </a:solidFill>
                <a:latin typeface="Libre Baskerville Bold" pitchFamily="34" charset="0"/>
                <a:ea typeface="Libre Baskerville Bold" pitchFamily="34" charset="-122"/>
                <a:cs typeface="Libre Baskerville Bold" pitchFamily="34" charset="-120"/>
              </a:rPr>
              <a:t>Tools &amp; Technologies:</a:t>
            </a:r>
            <a:endParaRPr lang="en-US" sz="3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1475" y="2133699"/>
          <a:ext cx="10868745" cy="3017167"/>
        </p:xfrm>
        <a:graphic>
          <a:graphicData uri="http://schemas.openxmlformats.org/drawingml/2006/table">
            <a:tbl>
              <a:tblPr/>
              <a:tblGrid>
                <a:gridCol w="2120492">
                  <a:extLst>
                    <a:ext uri="{9D8B030D-6E8A-4147-A177-3AD203B41FA5}">
                      <a16:colId xmlns:a16="http://schemas.microsoft.com/office/drawing/2014/main" val="20000"/>
                    </a:ext>
                  </a:extLst>
                </a:gridCol>
                <a:gridCol w="8748253">
                  <a:extLst>
                    <a:ext uri="{9D8B030D-6E8A-4147-A177-3AD203B41FA5}">
                      <a16:colId xmlns:a16="http://schemas.microsoft.com/office/drawing/2014/main" val="20001"/>
                    </a:ext>
                  </a:extLst>
                </a:gridCol>
              </a:tblGrid>
              <a:tr h="422463">
                <a:tc>
                  <a:txBody>
                    <a:bodyPr/>
                    <a:lstStyle/>
                    <a:p>
                      <a:pPr marL="0" indent="0">
                        <a:buNone/>
                      </a:pPr>
                      <a:r>
                        <a:rPr lang="en-US" sz="1300" b="1" kern="0" spc="-13" dirty="0">
                          <a:solidFill>
                            <a:srgbClr val="FFFFFF"/>
                          </a:solidFill>
                          <a:latin typeface="Bricolage Grotesque" pitchFamily="34" charset="0"/>
                          <a:ea typeface="Bricolage Grotesque" pitchFamily="34" charset="-122"/>
                          <a:cs typeface="Bricolage Grotesque" pitchFamily="34" charset="-120"/>
                        </a:rPr>
                        <a:t>Tool</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300" b="1" kern="0" spc="-13" dirty="0">
                          <a:solidFill>
                            <a:srgbClr val="FFFFFF"/>
                          </a:solidFill>
                          <a:latin typeface="Bricolage Grotesque" pitchFamily="34" charset="0"/>
                          <a:ea typeface="Bricolage Grotesque" pitchFamily="34" charset="-122"/>
                          <a:cs typeface="Bricolage Grotesque" pitchFamily="34" charset="-120"/>
                        </a:rPr>
                        <a:t>Key Uses &amp; Applications</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0"/>
                  </a:ext>
                </a:extLst>
              </a:tr>
              <a:tr h="648676">
                <a:tc>
                  <a:txBody>
                    <a:bodyPr/>
                    <a:lstStyle/>
                    <a:p>
                      <a:pPr marL="0" indent="0">
                        <a:buNone/>
                      </a:pPr>
                      <a:r>
                        <a:rPr lang="en-US" sz="1300" b="1" kern="0" spc="-13" dirty="0">
                          <a:solidFill>
                            <a:srgbClr val="FFFFFF"/>
                          </a:solidFill>
                          <a:latin typeface="Bricolage Grotesque" pitchFamily="34" charset="0"/>
                          <a:ea typeface="Bricolage Grotesque" pitchFamily="34" charset="-122"/>
                          <a:cs typeface="Bricolage Grotesque" pitchFamily="34" charset="-120"/>
                        </a:rPr>
                        <a:t>Excel</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566C5E"/>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300" kern="0" spc="-13" dirty="0">
                          <a:solidFill>
                            <a:srgbClr val="FFFFFF"/>
                          </a:solidFill>
                          <a:latin typeface="Bricolage Grotesque" pitchFamily="34" charset="0"/>
                          <a:ea typeface="Bricolage Grotesque" pitchFamily="34" charset="-122"/>
                          <a:cs typeface="Bricolage Grotesque" pitchFamily="34" charset="-120"/>
                        </a:rPr>
                        <a:t>Data cleaning, pivot tables, advanced formulas, IQR outlier detection, dashboards, segmentation, trend analysis</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1F3B29"/>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648676">
                <a:tc>
                  <a:txBody>
                    <a:bodyPr/>
                    <a:lstStyle/>
                    <a:p>
                      <a:pPr marL="0" indent="0">
                        <a:buNone/>
                      </a:pPr>
                      <a:r>
                        <a:rPr lang="en-US" sz="1300" b="1" kern="0" spc="-13" dirty="0">
                          <a:solidFill>
                            <a:srgbClr val="FFFFFF"/>
                          </a:solidFill>
                          <a:latin typeface="Bricolage Grotesque" pitchFamily="34" charset="0"/>
                          <a:ea typeface="Bricolage Grotesque" pitchFamily="34" charset="-122"/>
                          <a:cs typeface="Bricolage Grotesque" pitchFamily="34" charset="-120"/>
                        </a:rPr>
                        <a:t>SQL</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300" kern="0" spc="-13" dirty="0">
                          <a:solidFill>
                            <a:srgbClr val="FFFFFF"/>
                          </a:solidFill>
                          <a:latin typeface="Bricolage Grotesque" pitchFamily="34" charset="0"/>
                          <a:ea typeface="Bricolage Grotesque" pitchFamily="34" charset="-122"/>
                          <a:cs typeface="Bricolage Grotesque" pitchFamily="34" charset="-120"/>
                        </a:rPr>
                        <a:t>Data integration, multi‑table JOINs, filtering, aggregation (SUM, AVG, COUNT), stored procedures, business queries</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648676">
                <a:tc>
                  <a:txBody>
                    <a:bodyPr/>
                    <a:lstStyle/>
                    <a:p>
                      <a:pPr marL="0" indent="0">
                        <a:buNone/>
                      </a:pPr>
                      <a:r>
                        <a:rPr lang="en-US" sz="1300" b="1" kern="0" spc="-13" dirty="0">
                          <a:solidFill>
                            <a:srgbClr val="FFFFFF"/>
                          </a:solidFill>
                          <a:latin typeface="Bricolage Grotesque" pitchFamily="34" charset="0"/>
                          <a:ea typeface="Bricolage Grotesque" pitchFamily="34" charset="-122"/>
                          <a:cs typeface="Bricolage Grotesque" pitchFamily="34" charset="-120"/>
                        </a:rPr>
                        <a:t>Python</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566C5E"/>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300" kern="0" spc="-13" dirty="0">
                          <a:solidFill>
                            <a:srgbClr val="FFFFFF"/>
                          </a:solidFill>
                          <a:latin typeface="Bricolage Grotesque" pitchFamily="34" charset="0"/>
                          <a:ea typeface="Bricolage Grotesque" pitchFamily="34" charset="-122"/>
                          <a:cs typeface="Bricolage Grotesque" pitchFamily="34" charset="-120"/>
                        </a:rPr>
                        <a:t>Data cleaning (Pandas, NumPy), exploratory data analysis (EDA), visualization (Matplotlib, Seaborn), correlation &amp; statistical analysis</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1F3B29"/>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648676">
                <a:tc>
                  <a:txBody>
                    <a:bodyPr/>
                    <a:lstStyle/>
                    <a:p>
                      <a:pPr marL="0" indent="0">
                        <a:buNone/>
                      </a:pPr>
                      <a:r>
                        <a:rPr lang="en-US" sz="1300" b="1" kern="0" spc="-13" dirty="0">
                          <a:solidFill>
                            <a:srgbClr val="FFFFFF"/>
                          </a:solidFill>
                          <a:latin typeface="Bricolage Grotesque" pitchFamily="34" charset="0"/>
                          <a:ea typeface="Bricolage Grotesque" pitchFamily="34" charset="-122"/>
                          <a:cs typeface="Bricolage Grotesque" pitchFamily="34" charset="-120"/>
                        </a:rPr>
                        <a:t>Power BI</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tc>
                  <a:txBody>
                    <a:bodyPr/>
                    <a:lstStyle/>
                    <a:p>
                      <a:pPr marL="0" indent="0">
                        <a:buNone/>
                      </a:pPr>
                      <a:r>
                        <a:rPr lang="en-US" sz="1300" kern="0" spc="-13" dirty="0">
                          <a:solidFill>
                            <a:srgbClr val="FFFFFF"/>
                          </a:solidFill>
                          <a:latin typeface="Bricolage Grotesque" pitchFamily="34" charset="0"/>
                          <a:ea typeface="Bricolage Grotesque" pitchFamily="34" charset="-122"/>
                          <a:cs typeface="Bricolage Grotesque" pitchFamily="34" charset="-120"/>
                        </a:rPr>
                        <a:t>Interactive dashboards, KPIs, trend analysis, star schema modeling, DAX measures, Key Influencers, decomposition trees</a:t>
                      </a:r>
                      <a:endParaRPr lang="en-US" sz="1300" dirty="0">
                        <a:latin typeface="Bricolage Grotesque" charset="0"/>
                        <a:ea typeface="Bricolage Grotesque" charset="0"/>
                        <a:cs typeface="Bricolage Grotesque" charset="0"/>
                      </a:endParaRPr>
                    </a:p>
                  </a:txBody>
                  <a:tcPr marL="170117" marR="170117"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03560"/>
            <a:ext cx="10868745" cy="472480"/>
          </a:xfrm>
          <a:prstGeom prst="rect">
            <a:avLst/>
          </a:prstGeom>
          <a:noFill/>
          <a:ln/>
        </p:spPr>
        <p:txBody>
          <a:bodyPr wrap="none" lIns="0" tIns="0" rIns="0" bIns="0" rtlCol="0" anchor="t"/>
          <a:lstStyle/>
          <a:p>
            <a:pPr marL="0" indent="0" algn="l">
              <a:lnSpc>
                <a:spcPct val="104000"/>
              </a:lnSpc>
              <a:buNone/>
            </a:pPr>
            <a:r>
              <a:rPr lang="en-US" sz="2950" b="1" kern="0" spc="-119" dirty="0">
                <a:solidFill>
                  <a:srgbClr val="FFFFFF"/>
                </a:solidFill>
                <a:latin typeface="Libre Baskerville Bold" pitchFamily="34" charset="0"/>
                <a:ea typeface="Libre Baskerville Bold" pitchFamily="34" charset="-122"/>
                <a:cs typeface="Libre Baskerville Bold" pitchFamily="34" charset="-120"/>
              </a:rPr>
              <a:t>Datasets: Records, Purpose, Key Fields &amp; Relationships</a:t>
            </a:r>
            <a:endParaRPr lang="en-US" sz="2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1475" y="1417935"/>
          <a:ext cx="10868745" cy="4723689"/>
        </p:xfrm>
        <a:graphic>
          <a:graphicData uri="http://schemas.openxmlformats.org/drawingml/2006/table">
            <a:tbl>
              <a:tblPr/>
              <a:tblGrid>
                <a:gridCol w="2173749">
                  <a:extLst>
                    <a:ext uri="{9D8B030D-6E8A-4147-A177-3AD203B41FA5}">
                      <a16:colId xmlns:a16="http://schemas.microsoft.com/office/drawing/2014/main" val="20000"/>
                    </a:ext>
                  </a:extLst>
                </a:gridCol>
                <a:gridCol w="2173749">
                  <a:extLst>
                    <a:ext uri="{9D8B030D-6E8A-4147-A177-3AD203B41FA5}">
                      <a16:colId xmlns:a16="http://schemas.microsoft.com/office/drawing/2014/main" val="20001"/>
                    </a:ext>
                  </a:extLst>
                </a:gridCol>
                <a:gridCol w="2173749">
                  <a:extLst>
                    <a:ext uri="{9D8B030D-6E8A-4147-A177-3AD203B41FA5}">
                      <a16:colId xmlns:a16="http://schemas.microsoft.com/office/drawing/2014/main" val="20002"/>
                    </a:ext>
                  </a:extLst>
                </a:gridCol>
                <a:gridCol w="2173749">
                  <a:extLst>
                    <a:ext uri="{9D8B030D-6E8A-4147-A177-3AD203B41FA5}">
                      <a16:colId xmlns:a16="http://schemas.microsoft.com/office/drawing/2014/main" val="20003"/>
                    </a:ext>
                  </a:extLst>
                </a:gridCol>
                <a:gridCol w="2173749">
                  <a:extLst>
                    <a:ext uri="{9D8B030D-6E8A-4147-A177-3AD203B41FA5}">
                      <a16:colId xmlns:a16="http://schemas.microsoft.com/office/drawing/2014/main" val="20004"/>
                    </a:ext>
                  </a:extLst>
                </a:gridCol>
              </a:tblGrid>
              <a:tr h="348249">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Table Name</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Total Records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Key Fields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Purpose</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Key Relational Keys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0"/>
                  </a:ext>
                </a:extLst>
              </a:tr>
              <a:tr h="729240">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Customers_dataset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90,000</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Demographics, Zip Code, Age Group, Loyalty Segment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Capture customer identity, age cohorts, and loyalty distribution</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customer_id $\rightarrow$ Orders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729240">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Geolocation_dataset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155,545</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Indian State/City mappings, Postal Codes, GPS Coordinates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Map geographic footprint and spatial logistics performance</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customer_zip_code $\rightarrow$ Customers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729240">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Products_dataset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32,951</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Category, Sub-category, Brand, Weight, Cost Price, Selling Price</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Portfolio performance, margin analysis, and inventory weight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product_id $\rightarrow$ Order Items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729240">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Orders_dataset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99,999</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Order Statuses, Payment Types, Tracking Timestamps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Operational order progression, delivery timelines, and statuses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order_id $\rightarrow$ Order Items, Reviews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294533"/>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729240">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Order_items_dataset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150,000</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Quantities, Unit Prices, Discounts, Shipping Fees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Detailed transactional granular breakdown and item economics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1F3B29"/>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Primary transaction table linking Orders &amp; Products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1F3B29"/>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294533"/>
                      </a:solidFill>
                      <a:prstDash val="solid"/>
                      <a:round/>
                      <a:headEnd type="none" w="med" len="med"/>
                      <a:tailEnd type="none" w="med" len="med"/>
                    </a:lnT>
                    <a:lnB w="12700" cap="flat" cmpd="sng" algn="ctr">
                      <a:solidFill>
                        <a:srgbClr val="1F3B29"/>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r h="729240">
                <a:tc>
                  <a:txBody>
                    <a:bodyPr/>
                    <a:lstStyle/>
                    <a:p>
                      <a:pPr marL="0" indent="0">
                        <a:buNone/>
                      </a:pPr>
                      <a:r>
                        <a:rPr lang="en-US" sz="1150" b="1" kern="0" spc="-12" dirty="0">
                          <a:solidFill>
                            <a:srgbClr val="FFFFFF"/>
                          </a:solidFill>
                          <a:latin typeface="Bricolage Grotesque" pitchFamily="34" charset="0"/>
                          <a:ea typeface="Bricolage Grotesque" pitchFamily="34" charset="-122"/>
                          <a:cs typeface="Bricolage Grotesque" pitchFamily="34" charset="-120"/>
                        </a:rPr>
                        <a:t>Order_reviews_dataset</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566C5E"/>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97,019</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Review Ratings (1–5 scale), Text Comments, Timestamps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Monitor customer sentiment and feedback correlation</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294533"/>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tc>
                  <a:txBody>
                    <a:bodyPr/>
                    <a:lstStyle/>
                    <a:p>
                      <a:pPr marL="0" indent="0">
                        <a:buNone/>
                      </a:pPr>
                      <a:r>
                        <a:rPr lang="en-US" sz="1150" kern="0" spc="-12" dirty="0">
                          <a:solidFill>
                            <a:srgbClr val="FFFFFF"/>
                          </a:solidFill>
                          <a:latin typeface="Bricolage Grotesque" pitchFamily="34" charset="0"/>
                          <a:ea typeface="Bricolage Grotesque" pitchFamily="34" charset="-122"/>
                          <a:cs typeface="Bricolage Grotesque" pitchFamily="34" charset="-120"/>
                        </a:rPr>
                        <a:t>order_id $\rightarrow$ Orders</a:t>
                      </a:r>
                      <a:endParaRPr lang="en-US" sz="1150" dirty="0">
                        <a:latin typeface="Bricolage Grotesque" charset="0"/>
                        <a:ea typeface="Bricolage Grotesque" charset="0"/>
                        <a:cs typeface="Bricolage Grotesque" charset="0"/>
                      </a:endParaRPr>
                    </a:p>
                  </a:txBody>
                  <a:tcPr marL="151215" marR="151215" marT="6350" marB="6350" anchor="ctr">
                    <a:lnL w="12700" cap="flat" cmpd="sng" algn="ctr">
                      <a:solidFill>
                        <a:srgbClr val="294533"/>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1F3B2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047924" cy="6858000"/>
          </a:xfrm>
          <a:prstGeom prst="rect">
            <a:avLst/>
          </a:prstGeom>
        </p:spPr>
      </p:pic>
      <p:sp>
        <p:nvSpPr>
          <p:cNvPr id="3" name="Text 0"/>
          <p:cNvSpPr/>
          <p:nvPr/>
        </p:nvSpPr>
        <p:spPr>
          <a:xfrm>
            <a:off x="3709399" y="708819"/>
            <a:ext cx="7820822" cy="552351"/>
          </a:xfrm>
          <a:prstGeom prst="rect">
            <a:avLst/>
          </a:prstGeom>
          <a:noFill/>
          <a:ln/>
        </p:spPr>
        <p:txBody>
          <a:bodyPr wrap="none" lIns="0" tIns="0" rIns="0" bIns="0" rtlCol="0" anchor="t"/>
          <a:lstStyle/>
          <a:p>
            <a:pPr marL="0" indent="0" algn="l">
              <a:lnSpc>
                <a:spcPct val="104000"/>
              </a:lnSpc>
              <a:buNone/>
            </a:pPr>
            <a:r>
              <a:rPr lang="en-US" sz="3450" b="1" kern="0" spc="-139" dirty="0">
                <a:solidFill>
                  <a:srgbClr val="FFFFFF"/>
                </a:solidFill>
                <a:latin typeface="Libre Baskerville Bold" pitchFamily="34" charset="0"/>
                <a:ea typeface="Libre Baskerville Bold" pitchFamily="34" charset="-122"/>
                <a:cs typeface="Libre Baskerville Bold" pitchFamily="34" charset="-120"/>
              </a:rPr>
              <a:t>EDA-Exploratory Data Analysis</a:t>
            </a:r>
            <a:endParaRPr lang="en-US" sz="3450" dirty="0"/>
          </a:p>
        </p:txBody>
      </p:sp>
      <p:sp>
        <p:nvSpPr>
          <p:cNvPr id="4" name="Text 1"/>
          <p:cNvSpPr/>
          <p:nvPr/>
        </p:nvSpPr>
        <p:spPr>
          <a:xfrm>
            <a:off x="3709399" y="1723926"/>
            <a:ext cx="3807127" cy="1593552"/>
          </a:xfrm>
          <a:prstGeom prst="rect">
            <a:avLst/>
          </a:prstGeom>
          <a:noFill/>
          <a:ln/>
        </p:spPr>
        <p:txBody>
          <a:bodyPr wrap="square" lIns="0" tIns="0" rIns="0" bIns="0" rtlCol="0" anchor="t"/>
          <a:lstStyle/>
          <a:p>
            <a:pPr marL="0" indent="0" algn="l">
              <a:lnSpc>
                <a:spcPct val="113000"/>
              </a:lnSpc>
              <a:spcAft>
                <a:spcPts val="750"/>
              </a:spcAft>
              <a:buNone/>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1.DATA UPLOAD</a:t>
            </a:r>
            <a:endParaRPr lang="en-US" sz="1350" dirty="0"/>
          </a:p>
          <a:p>
            <a:pPr marL="0" indent="0" algn="l">
              <a:lnSpc>
                <a:spcPct val="113000"/>
              </a:lnSpc>
              <a:spcAft>
                <a:spcPts val="750"/>
              </a:spcAft>
              <a:buNone/>
            </a:pPr>
            <a:endParaRPr lang="en-US" sz="1350" dirty="0"/>
          </a:p>
          <a:p>
            <a:pPr marL="0" indent="0" algn="l">
              <a:lnSpc>
                <a:spcPct val="113000"/>
              </a:lnSpc>
              <a:spcAft>
                <a:spcPts val="750"/>
              </a:spcAft>
              <a:buNone/>
            </a:pPr>
            <a:endParaRPr lang="en-US" sz="1350" dirty="0"/>
          </a:p>
          <a:p>
            <a:pPr marL="0" indent="0" algn="l">
              <a:lnSpc>
                <a:spcPct val="113000"/>
              </a:lnSpc>
              <a:spcAft>
                <a:spcPts val="750"/>
              </a:spcAft>
              <a:buNone/>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2. Data Understanding / Inspection</a:t>
            </a:r>
            <a:endParaRPr lang="en-US" sz="1350" dirty="0"/>
          </a:p>
          <a:p>
            <a:pPr marL="0" indent="0" algn="l">
              <a:lnSpc>
                <a:spcPct val="113000"/>
              </a:lnSpc>
              <a:buNone/>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You performed:</a:t>
            </a:r>
            <a:endParaRPr lang="en-US" sz="1350" dirty="0"/>
          </a:p>
        </p:txBody>
      </p:sp>
      <p:sp>
        <p:nvSpPr>
          <p:cNvPr id="5" name="Text 2"/>
          <p:cNvSpPr/>
          <p:nvPr/>
        </p:nvSpPr>
        <p:spPr>
          <a:xfrm>
            <a:off x="3709399" y="3416598"/>
            <a:ext cx="3807127" cy="2022971"/>
          </a:xfrm>
          <a:prstGeom prst="rect">
            <a:avLst/>
          </a:prstGeom>
          <a:noFill/>
          <a:ln/>
        </p:spPr>
        <p:txBody>
          <a:bodyPr wrap="square" lIns="0" tIns="0" rIns="0" bIns="0" rtlCol="0" anchor="t">
            <a:normAutofit/>
          </a:bodyPr>
          <a:lstStyle/>
          <a:p>
            <a:pPr marL="274320" indent="-274320" algn="l">
              <a:lnSpc>
                <a:spcPct val="113000"/>
              </a:lnSpc>
              <a:buSzPct val="100000"/>
              <a:buFont typeface="+mj-lt"/>
              <a:buAutoNum type="arabicPeriod"/>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head() – viewed sample records</a:t>
            </a:r>
            <a:endParaRPr lang="en-US" sz="1350" dirty="0"/>
          </a:p>
          <a:p>
            <a:pPr marL="274320" indent="-274320" algn="l">
              <a:lnSpc>
                <a:spcPct val="113000"/>
              </a:lnSpc>
              <a:buSzPct val="100000"/>
              <a:buFont typeface="+mj-lt"/>
              <a:buAutoNum type="arabicPeriod" startAt="2"/>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info() – checked columns and data typs</a:t>
            </a:r>
            <a:endParaRPr lang="en-US" sz="1350" dirty="0"/>
          </a:p>
          <a:p>
            <a:pPr marL="274320" indent="-274320" algn="l">
              <a:lnSpc>
                <a:spcPct val="113000"/>
              </a:lnSpc>
              <a:buSzPct val="100000"/>
              <a:buFont typeface="+mj-lt"/>
              <a:buAutoNum type="arabicPeriod" startAt="3"/>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describe() – examined numerical statistics</a:t>
            </a:r>
            <a:endParaRPr lang="en-US" sz="1350" dirty="0"/>
          </a:p>
          <a:p>
            <a:pPr marL="274320" indent="-274320" algn="l">
              <a:lnSpc>
                <a:spcPct val="113000"/>
              </a:lnSpc>
              <a:buSzPct val="100000"/>
              <a:buFont typeface="+mj-lt"/>
              <a:buAutoNum type="arabicPeriod" startAt="4"/>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shape – checked rows and columns</a:t>
            </a:r>
            <a:endParaRPr lang="en-US" sz="1350" dirty="0"/>
          </a:p>
          <a:p>
            <a:pPr marL="274320" indent="-274320" algn="l">
              <a:lnSpc>
                <a:spcPct val="113000"/>
              </a:lnSpc>
              <a:buSzPct val="100000"/>
              <a:buFont typeface="+mj-lt"/>
              <a:buAutoNum type="arabicPeriod" startAt="5"/>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 columns – identified available fields</a:t>
            </a:r>
            <a:endParaRPr lang="en-US" sz="1350" dirty="0"/>
          </a:p>
          <a:p>
            <a:pPr marL="274320" indent="-274320" algn="l">
              <a:lnSpc>
                <a:spcPct val="113000"/>
              </a:lnSpc>
              <a:buSzPct val="100000"/>
              <a:buFont typeface="+mj-lt"/>
              <a:buAutoNum type="arabicPeriod" startAt="6"/>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dtypes – checked data types</a:t>
            </a:r>
            <a:endParaRPr lang="en-US" sz="1350" dirty="0"/>
          </a:p>
          <a:p>
            <a:pPr marL="274320" indent="-274320" algn="l">
              <a:lnSpc>
                <a:spcPct val="113000"/>
              </a:lnSpc>
              <a:buSzPct val="100000"/>
              <a:buFont typeface="+mj-lt"/>
              <a:buAutoNum type="arabicPeriod" startAt="7"/>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isnull().sum() – checked missing values</a:t>
            </a:r>
            <a:endParaRPr lang="en-US" sz="1350" dirty="0"/>
          </a:p>
        </p:txBody>
      </p:sp>
      <p:sp>
        <p:nvSpPr>
          <p:cNvPr id="6" name="Text 3"/>
          <p:cNvSpPr/>
          <p:nvPr/>
        </p:nvSpPr>
        <p:spPr>
          <a:xfrm>
            <a:off x="7723094" y="1723926"/>
            <a:ext cx="3807127" cy="4425156"/>
          </a:xfrm>
          <a:prstGeom prst="rect">
            <a:avLst/>
          </a:prstGeom>
          <a:noFill/>
          <a:ln/>
        </p:spPr>
        <p:txBody>
          <a:bodyPr wrap="square" lIns="0" tIns="0" rIns="0" bIns="0" rtlCol="0" anchor="t">
            <a:normAutofit/>
          </a:bodyPr>
          <a:lstStyle/>
          <a:p>
            <a:pPr marL="274320" indent="-274320" algn="l">
              <a:lnSpc>
                <a:spcPct val="113000"/>
              </a:lnSpc>
              <a:buSzPct val="100000"/>
              <a:buFont typeface="+mj-lt"/>
              <a:buAutoNum type="arabicPeriod"/>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Duplicate Removal You removed duplicate records from: “Duplicate records were identified and removed from all six datasets to improve data quality and prevent duplicate records from affecting the analysis.”</a:t>
            </a:r>
            <a:endParaRPr lang="en-US" sz="1350" dirty="0"/>
          </a:p>
          <a:p>
            <a:pPr marL="274320" indent="-274320" algn="l">
              <a:lnSpc>
                <a:spcPct val="113000"/>
              </a:lnSpc>
              <a:buSzPct val="100000"/>
              <a:buFont typeface="+mj-lt"/>
              <a:buAutoNum type="arabicPeriod" startAt="2"/>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Missing-Value Treatment You checked missing values in all datasets. You handled missing values by: Removing incomplete order records based on required date fields. Forward fill (ffill) and backward fill (bfill) for selected review and geographic fields. Checking the dataset again after treatment.</a:t>
            </a:r>
            <a:endParaRPr lang="en-US" sz="1350" dirty="0"/>
          </a:p>
          <a:p>
            <a:pPr marL="274320" indent="-274320" algn="l">
              <a:lnSpc>
                <a:spcPct val="113000"/>
              </a:lnSpc>
              <a:buSzPct val="100000"/>
              <a:buFont typeface="+mj-lt"/>
              <a:buAutoNum type="arabicPeriod" startAt="3"/>
            </a:pPr>
            <a:r>
              <a:rPr lang="en-US" sz="1350" kern="0" spc="-14" dirty="0">
                <a:solidFill>
                  <a:srgbClr val="FFFFFF"/>
                </a:solidFill>
                <a:latin typeface="Bricolage Grotesque Light" pitchFamily="34" charset="0"/>
                <a:ea typeface="Bricolage Grotesque Light" pitchFamily="34" charset="-122"/>
                <a:cs typeface="Bricolage Grotesque Light" pitchFamily="34" charset="-120"/>
              </a:rPr>
              <a:t>Date-Time Processing You identified order-related date columns and converted relevant columns to datetime format. You used dates for calculating:  Order month  Fulfillment time  Delivery delay</a:t>
            </a:r>
            <a:endParaRPr lang="en-US" sz="1350" dirty="0"/>
          </a:p>
        </p:txBody>
      </p:sp>
      <p:sp>
        <p:nvSpPr>
          <p:cNvPr id="7" name="Shape 4"/>
          <p:cNvSpPr/>
          <p:nvPr/>
        </p:nvSpPr>
        <p:spPr>
          <a:xfrm>
            <a:off x="3690349" y="1509117"/>
            <a:ext cx="3845226" cy="38100"/>
          </a:xfrm>
          <a:prstGeom prst="rect">
            <a:avLst/>
          </a:prstGeom>
          <a:solidFill>
            <a:srgbClr val="203D2B"/>
          </a:solidFill>
          <a:ln/>
        </p:spPr>
      </p:sp>
      <p:sp>
        <p:nvSpPr>
          <p:cNvPr id="8" name="Shape 5"/>
          <p:cNvSpPr/>
          <p:nvPr/>
        </p:nvSpPr>
        <p:spPr>
          <a:xfrm>
            <a:off x="7704044" y="1509117"/>
            <a:ext cx="3845226" cy="38100"/>
          </a:xfrm>
          <a:prstGeom prst="rect">
            <a:avLst/>
          </a:prstGeom>
          <a:solidFill>
            <a:srgbClr val="7A5A2E"/>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73073" y="1301055"/>
            <a:ext cx="3599566" cy="4759623"/>
          </a:xfrm>
          <a:prstGeom prst="roundRect">
            <a:avLst>
              <a:gd name="adj" fmla="val 512"/>
            </a:avLst>
          </a:prstGeom>
          <a:solidFill>
            <a:srgbClr val="C6A75E"/>
          </a:solidFill>
          <a:ln/>
        </p:spPr>
      </p:sp>
      <p:sp>
        <p:nvSpPr>
          <p:cNvPr id="3" name="Text 1"/>
          <p:cNvSpPr/>
          <p:nvPr/>
        </p:nvSpPr>
        <p:spPr>
          <a:xfrm>
            <a:off x="695903" y="1380827"/>
            <a:ext cx="3353907" cy="191988"/>
          </a:xfrm>
          <a:prstGeom prst="rect">
            <a:avLst/>
          </a:prstGeom>
          <a:noFill/>
          <a:ln/>
        </p:spPr>
        <p:txBody>
          <a:bodyPr wrap="none" lIns="0" tIns="0" rIns="0" bIns="0" rtlCol="0" anchor="t"/>
          <a:lstStyle/>
          <a:p>
            <a:pPr marL="0" indent="0" algn="l">
              <a:lnSpc>
                <a:spcPct val="104000"/>
              </a:lnSpc>
              <a:buNone/>
            </a:pPr>
            <a:r>
              <a:rPr lang="en-US" sz="1200" b="1" kern="0" spc="-48" dirty="0">
                <a:solidFill>
                  <a:srgbClr val="203D2B"/>
                </a:solidFill>
                <a:latin typeface="Libre Baskerville Bold" pitchFamily="34" charset="0"/>
                <a:ea typeface="Libre Baskerville Bold" pitchFamily="34" charset="-122"/>
                <a:cs typeface="Libre Baskerville Bold" pitchFamily="34" charset="-120"/>
              </a:rPr>
              <a:t>Outlier Analysis:</a:t>
            </a:r>
            <a:endParaRPr lang="en-US" sz="1200" dirty="0"/>
          </a:p>
        </p:txBody>
      </p:sp>
      <p:sp>
        <p:nvSpPr>
          <p:cNvPr id="4" name="Text 2"/>
          <p:cNvSpPr/>
          <p:nvPr/>
        </p:nvSpPr>
        <p:spPr>
          <a:xfrm>
            <a:off x="695903" y="1652588"/>
            <a:ext cx="3353907" cy="1329432"/>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You performed IQR-based outlier detection. You checked: </a:t>
            </a:r>
            <a:endParaRPr lang="en-US" sz="950" dirty="0"/>
          </a:p>
          <a:p>
            <a:pPr marL="193040" indent="-193040" algn="l">
              <a:lnSpc>
                <a:spcPct val="96000"/>
              </a:lnSpc>
              <a:buSzPct val="100000"/>
              <a:buFont typeface="+mj-lt"/>
              <a:buAutoNum type="arabicPeriod" startAt="2"/>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Product weight  </a:t>
            </a:r>
            <a:endParaRPr lang="en-US" sz="950" dirty="0"/>
          </a:p>
          <a:p>
            <a:pPr marL="193040" indent="-193040" algn="l">
              <a:lnSpc>
                <a:spcPct val="96000"/>
              </a:lnSpc>
              <a:buSzPct val="100000"/>
              <a:buFont typeface="+mj-lt"/>
              <a:buAutoNum type="arabicPeriod" startAt="3"/>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Cost price </a:t>
            </a:r>
            <a:endParaRPr lang="en-US" sz="950" dirty="0"/>
          </a:p>
          <a:p>
            <a:pPr marL="193040" indent="-193040" algn="l">
              <a:lnSpc>
                <a:spcPct val="96000"/>
              </a:lnSpc>
              <a:buSzPct val="100000"/>
              <a:buFont typeface="+mj-lt"/>
              <a:buAutoNum type="arabicPeriod" startAt="4"/>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Selling price</a:t>
            </a:r>
            <a:endParaRPr lang="en-US" sz="950" dirty="0"/>
          </a:p>
          <a:p>
            <a:pPr marL="193040" indent="-193040" algn="l">
              <a:lnSpc>
                <a:spcPct val="96000"/>
              </a:lnSpc>
              <a:buSzPct val="100000"/>
              <a:buFont typeface="+mj-lt"/>
              <a:buAutoNum type="arabicPeriod" startAt="5"/>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Quantity</a:t>
            </a:r>
            <a:endParaRPr lang="en-US" sz="950" dirty="0"/>
          </a:p>
          <a:p>
            <a:pPr marL="193040" indent="-193040" algn="l">
              <a:lnSpc>
                <a:spcPct val="96000"/>
              </a:lnSpc>
              <a:buSzPct val="100000"/>
              <a:buFont typeface="+mj-lt"/>
              <a:buAutoNum type="arabicPeriod" startAt="6"/>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Unit price </a:t>
            </a:r>
            <a:endParaRPr lang="en-US" sz="950" dirty="0"/>
          </a:p>
          <a:p>
            <a:pPr marL="193040" indent="-193040" algn="l">
              <a:lnSpc>
                <a:spcPct val="96000"/>
              </a:lnSpc>
              <a:buSzPct val="100000"/>
              <a:buFont typeface="+mj-lt"/>
              <a:buAutoNum type="arabicPeriod" startAt="7"/>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Discount percentage </a:t>
            </a:r>
            <a:endParaRPr lang="en-US" sz="950" dirty="0"/>
          </a:p>
          <a:p>
            <a:pPr marL="193040" indent="-193040" algn="l">
              <a:lnSpc>
                <a:spcPct val="96000"/>
              </a:lnSpc>
              <a:buSzPct val="100000"/>
              <a:buFont typeface="+mj-lt"/>
              <a:buAutoNum type="arabicPeriod" startAt="8"/>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Shipping cost</a:t>
            </a:r>
            <a:endParaRPr lang="en-US" sz="950" dirty="0"/>
          </a:p>
        </p:txBody>
      </p:sp>
      <p:sp>
        <p:nvSpPr>
          <p:cNvPr id="5" name="Text 3"/>
          <p:cNvSpPr/>
          <p:nvPr/>
        </p:nvSpPr>
        <p:spPr>
          <a:xfrm>
            <a:off x="695903" y="3053854"/>
            <a:ext cx="3963491" cy="177304"/>
          </a:xfrm>
          <a:prstGeom prst="rect">
            <a:avLst/>
          </a:prstGeom>
          <a:noFill/>
          <a:ln/>
        </p:spPr>
        <p:txBody>
          <a:bodyPr wrap="none" lIns="0" tIns="0" rIns="0" bIns="0" rtlCol="0" anchor="t"/>
          <a:lstStyle/>
          <a:p>
            <a:pPr marL="0" indent="0" algn="l">
              <a:lnSpc>
                <a:spcPct val="96000"/>
              </a:lnSpc>
              <a:buNone/>
            </a:pPr>
            <a:r>
              <a:rPr lang="en-US" sz="1200" kern="0" spc="-10" dirty="0">
                <a:solidFill>
                  <a:srgbClr val="000000"/>
                </a:solidFill>
                <a:latin typeface="Bricolage Grotesque Light" pitchFamily="34" charset="0"/>
                <a:ea typeface="Bricolage Grotesque Light" pitchFamily="34" charset="-122"/>
                <a:cs typeface="Bricolage Grotesque Light" pitchFamily="34" charset="-120"/>
              </a:rPr>
              <a:t>You calculated:</a:t>
            </a:r>
            <a:endParaRPr lang="en-US" sz="1200" dirty="0"/>
          </a:p>
        </p:txBody>
      </p:sp>
      <p:sp>
        <p:nvSpPr>
          <p:cNvPr id="6" name="Text 4"/>
          <p:cNvSpPr/>
          <p:nvPr/>
        </p:nvSpPr>
        <p:spPr>
          <a:xfrm>
            <a:off x="695903" y="3302992"/>
            <a:ext cx="3963491" cy="141784"/>
          </a:xfrm>
          <a:prstGeom prst="rect">
            <a:avLst/>
          </a:prstGeom>
          <a:noFill/>
          <a:ln/>
        </p:spPr>
        <p:txBody>
          <a:bodyPr wrap="none" lIns="0" tIns="0" rIns="0" bIns="0" rtlCol="0" anchor="t"/>
          <a:lstStyle/>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Q1 </a:t>
            </a:r>
            <a:endParaRPr lang="en-US" sz="950" dirty="0"/>
          </a:p>
        </p:txBody>
      </p:sp>
      <p:sp>
        <p:nvSpPr>
          <p:cNvPr id="7" name="Shape 5"/>
          <p:cNvSpPr/>
          <p:nvPr/>
        </p:nvSpPr>
        <p:spPr>
          <a:xfrm>
            <a:off x="695903" y="3312418"/>
            <a:ext cx="122830" cy="122833"/>
          </a:xfrm>
          <a:prstGeom prst="roundRect">
            <a:avLst>
              <a:gd name="adj" fmla="val 15004"/>
            </a:avLst>
          </a:prstGeom>
          <a:noFill/>
          <a:ln w="12700">
            <a:solidFill>
              <a:srgbClr val="203D2B"/>
            </a:solidFill>
            <a:prstDash val="solid"/>
          </a:ln>
        </p:spPr>
      </p:sp>
      <p:sp>
        <p:nvSpPr>
          <p:cNvPr id="8" name="Text 6"/>
          <p:cNvSpPr/>
          <p:nvPr/>
        </p:nvSpPr>
        <p:spPr>
          <a:xfrm>
            <a:off x="695903" y="3472656"/>
            <a:ext cx="3963491" cy="141784"/>
          </a:xfrm>
          <a:prstGeom prst="rect">
            <a:avLst/>
          </a:prstGeom>
          <a:noFill/>
          <a:ln/>
        </p:spPr>
        <p:txBody>
          <a:bodyPr wrap="none" lIns="0" tIns="0" rIns="0" bIns="0" rtlCol="0" anchor="t"/>
          <a:lstStyle/>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Q3</a:t>
            </a:r>
            <a:endParaRPr lang="en-US" sz="950" dirty="0"/>
          </a:p>
        </p:txBody>
      </p:sp>
      <p:sp>
        <p:nvSpPr>
          <p:cNvPr id="9" name="Shape 7"/>
          <p:cNvSpPr/>
          <p:nvPr/>
        </p:nvSpPr>
        <p:spPr>
          <a:xfrm>
            <a:off x="695903" y="3482082"/>
            <a:ext cx="122830" cy="122833"/>
          </a:xfrm>
          <a:prstGeom prst="roundRect">
            <a:avLst>
              <a:gd name="adj" fmla="val 15004"/>
            </a:avLst>
          </a:prstGeom>
          <a:noFill/>
          <a:ln w="12700">
            <a:solidFill>
              <a:srgbClr val="203D2B"/>
            </a:solidFill>
            <a:prstDash val="solid"/>
          </a:ln>
        </p:spPr>
      </p:sp>
      <p:sp>
        <p:nvSpPr>
          <p:cNvPr id="10" name="Text 8"/>
          <p:cNvSpPr/>
          <p:nvPr/>
        </p:nvSpPr>
        <p:spPr>
          <a:xfrm>
            <a:off x="695903" y="3642320"/>
            <a:ext cx="3963491" cy="141784"/>
          </a:xfrm>
          <a:prstGeom prst="rect">
            <a:avLst/>
          </a:prstGeom>
          <a:noFill/>
          <a:ln/>
        </p:spPr>
        <p:txBody>
          <a:bodyPr wrap="none" lIns="0" tIns="0" rIns="0" bIns="0" rtlCol="0" anchor="t"/>
          <a:lstStyle/>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IQR</a:t>
            </a:r>
            <a:endParaRPr lang="en-US" sz="950" dirty="0"/>
          </a:p>
        </p:txBody>
      </p:sp>
      <p:sp>
        <p:nvSpPr>
          <p:cNvPr id="11" name="Shape 9"/>
          <p:cNvSpPr/>
          <p:nvPr/>
        </p:nvSpPr>
        <p:spPr>
          <a:xfrm>
            <a:off x="695903" y="3651746"/>
            <a:ext cx="122830" cy="122833"/>
          </a:xfrm>
          <a:prstGeom prst="roundRect">
            <a:avLst>
              <a:gd name="adj" fmla="val 15004"/>
            </a:avLst>
          </a:prstGeom>
          <a:noFill/>
          <a:ln w="12700">
            <a:solidFill>
              <a:srgbClr val="203D2B"/>
            </a:solidFill>
            <a:prstDash val="solid"/>
          </a:ln>
        </p:spPr>
      </p:sp>
      <p:sp>
        <p:nvSpPr>
          <p:cNvPr id="12" name="Text 10"/>
          <p:cNvSpPr/>
          <p:nvPr/>
        </p:nvSpPr>
        <p:spPr>
          <a:xfrm>
            <a:off x="695903" y="3811984"/>
            <a:ext cx="3963491" cy="141784"/>
          </a:xfrm>
          <a:prstGeom prst="rect">
            <a:avLst/>
          </a:prstGeom>
          <a:noFill/>
          <a:ln/>
        </p:spPr>
        <p:txBody>
          <a:bodyPr wrap="none" lIns="0" tIns="0" rIns="0" bIns="0" rtlCol="0" anchor="t"/>
          <a:lstStyle/>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Lower bound </a:t>
            </a:r>
            <a:endParaRPr lang="en-US" sz="950" dirty="0"/>
          </a:p>
        </p:txBody>
      </p:sp>
      <p:sp>
        <p:nvSpPr>
          <p:cNvPr id="13" name="Shape 11"/>
          <p:cNvSpPr/>
          <p:nvPr/>
        </p:nvSpPr>
        <p:spPr>
          <a:xfrm>
            <a:off x="695903" y="3821410"/>
            <a:ext cx="122830" cy="122833"/>
          </a:xfrm>
          <a:prstGeom prst="roundRect">
            <a:avLst>
              <a:gd name="adj" fmla="val 15004"/>
            </a:avLst>
          </a:prstGeom>
          <a:noFill/>
          <a:ln w="12700">
            <a:solidFill>
              <a:srgbClr val="203D2B"/>
            </a:solidFill>
            <a:prstDash val="solid"/>
          </a:ln>
        </p:spPr>
      </p:sp>
      <p:sp>
        <p:nvSpPr>
          <p:cNvPr id="14" name="Text 12"/>
          <p:cNvSpPr/>
          <p:nvPr/>
        </p:nvSpPr>
        <p:spPr>
          <a:xfrm>
            <a:off x="695903" y="3981648"/>
            <a:ext cx="3963491" cy="141784"/>
          </a:xfrm>
          <a:prstGeom prst="rect">
            <a:avLst/>
          </a:prstGeom>
          <a:noFill/>
          <a:ln/>
        </p:spPr>
        <p:txBody>
          <a:bodyPr wrap="none" lIns="0" tIns="0" rIns="0" bIns="0" rtlCol="0" anchor="t"/>
          <a:lstStyle/>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Upper bound </a:t>
            </a:r>
            <a:endParaRPr lang="en-US" sz="950" dirty="0"/>
          </a:p>
        </p:txBody>
      </p:sp>
      <p:sp>
        <p:nvSpPr>
          <p:cNvPr id="15" name="Shape 13"/>
          <p:cNvSpPr/>
          <p:nvPr/>
        </p:nvSpPr>
        <p:spPr>
          <a:xfrm>
            <a:off x="695903" y="3991074"/>
            <a:ext cx="122830" cy="122833"/>
          </a:xfrm>
          <a:prstGeom prst="roundRect">
            <a:avLst>
              <a:gd name="adj" fmla="val 15004"/>
            </a:avLst>
          </a:prstGeom>
          <a:noFill/>
          <a:ln w="12700">
            <a:solidFill>
              <a:srgbClr val="203D2B"/>
            </a:solidFill>
            <a:prstDash val="solid"/>
          </a:ln>
        </p:spPr>
      </p:sp>
      <p:sp>
        <p:nvSpPr>
          <p:cNvPr id="16" name="Shape 14"/>
          <p:cNvSpPr/>
          <p:nvPr/>
        </p:nvSpPr>
        <p:spPr>
          <a:xfrm>
            <a:off x="4301819" y="1301055"/>
            <a:ext cx="3599566" cy="4759623"/>
          </a:xfrm>
          <a:prstGeom prst="roundRect">
            <a:avLst>
              <a:gd name="adj" fmla="val 512"/>
            </a:avLst>
          </a:prstGeom>
          <a:solidFill>
            <a:srgbClr val="7A5A2E"/>
          </a:solidFill>
          <a:ln/>
        </p:spPr>
      </p:sp>
      <p:sp>
        <p:nvSpPr>
          <p:cNvPr id="17" name="Text 15"/>
          <p:cNvSpPr/>
          <p:nvPr/>
        </p:nvSpPr>
        <p:spPr>
          <a:xfrm>
            <a:off x="4424649" y="1380827"/>
            <a:ext cx="3353907" cy="191988"/>
          </a:xfrm>
          <a:prstGeom prst="rect">
            <a:avLst/>
          </a:prstGeom>
          <a:noFill/>
          <a:ln/>
        </p:spPr>
        <p:txBody>
          <a:bodyPr wrap="none" lIns="0" tIns="0" rIns="0" bIns="0" rtlCol="0" anchor="t"/>
          <a:lstStyle/>
          <a:p>
            <a:pPr marL="0" indent="0" algn="l">
              <a:lnSpc>
                <a:spcPct val="104000"/>
              </a:lnSpc>
              <a:buNone/>
            </a:pPr>
            <a:r>
              <a:rPr lang="en-US" sz="1200" b="1" kern="0" spc="-48" dirty="0">
                <a:solidFill>
                  <a:srgbClr val="FFFFFF"/>
                </a:solidFill>
                <a:latin typeface="Libre Baskerville Bold" pitchFamily="34" charset="0"/>
                <a:ea typeface="Libre Baskerville Bold" pitchFamily="34" charset="-122"/>
                <a:cs typeface="Libre Baskerville Bold" pitchFamily="34" charset="-120"/>
              </a:rPr>
              <a:t>Dataset Merging:</a:t>
            </a:r>
            <a:endParaRPr lang="en-US" sz="1200" dirty="0"/>
          </a:p>
        </p:txBody>
      </p:sp>
      <p:sp>
        <p:nvSpPr>
          <p:cNvPr id="18" name="Text 16"/>
          <p:cNvSpPr/>
          <p:nvPr/>
        </p:nvSpPr>
        <p:spPr>
          <a:xfrm>
            <a:off x="4424649" y="1652588"/>
            <a:ext cx="3353907" cy="283567"/>
          </a:xfrm>
          <a:prstGeom prst="rect">
            <a:avLst/>
          </a:prstGeom>
          <a:noFill/>
          <a:ln/>
        </p:spPr>
        <p:txBody>
          <a:bodyPr wrap="square" lIns="0" tIns="0" rIns="0" bIns="0" rtlCol="0" anchor="t">
            <a:normAutofit/>
          </a:bodyPr>
          <a:lstStyle/>
          <a:p>
            <a:pPr marL="0" indent="0" algn="l">
              <a:lnSpc>
                <a:spcPct val="96000"/>
              </a:lnSpc>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You integrated the datasets using common keys. Main relationships included</a:t>
            </a:r>
            <a:endParaRPr lang="en-US" sz="950" dirty="0"/>
          </a:p>
        </p:txBody>
      </p:sp>
      <p:sp>
        <p:nvSpPr>
          <p:cNvPr id="19" name="Text 17"/>
          <p:cNvSpPr/>
          <p:nvPr/>
        </p:nvSpPr>
        <p:spPr>
          <a:xfrm>
            <a:off x="4424649" y="2007989"/>
            <a:ext cx="3353907" cy="820440"/>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Order Items + Products Key: product_id </a:t>
            </a:r>
            <a:endParaRPr lang="en-US" sz="950" dirty="0"/>
          </a:p>
          <a:p>
            <a:pPr marL="193040" indent="-193040" algn="l">
              <a:lnSpc>
                <a:spcPct val="96000"/>
              </a:lnSpc>
              <a:buSzPct val="100000"/>
              <a:buFont typeface="+mj-lt"/>
              <a:buAutoNum type="arabicPeriod" startAt="2"/>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Order Items + Orders Key: order_id </a:t>
            </a:r>
            <a:endParaRPr lang="en-US" sz="950" dirty="0"/>
          </a:p>
          <a:p>
            <a:pPr marL="193040" indent="-193040" algn="l">
              <a:lnSpc>
                <a:spcPct val="96000"/>
              </a:lnSpc>
              <a:buSzPct val="100000"/>
              <a:buFont typeface="+mj-lt"/>
              <a:buAutoNum type="arabicPeriod" startAt="3"/>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Orders + Customers Key: customer_id </a:t>
            </a:r>
            <a:endParaRPr lang="en-US" sz="950" dirty="0"/>
          </a:p>
          <a:p>
            <a:pPr marL="193040" indent="-193040" algn="l">
              <a:lnSpc>
                <a:spcPct val="96000"/>
              </a:lnSpc>
              <a:buSzPct val="100000"/>
              <a:buFont typeface="+mj-lt"/>
              <a:buAutoNum type="arabicPeriod" startAt="4"/>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Orders + Reviews Key: order_id </a:t>
            </a:r>
            <a:endParaRPr lang="en-US" sz="950" dirty="0"/>
          </a:p>
          <a:p>
            <a:pPr marL="193040" indent="-193040" algn="l">
              <a:lnSpc>
                <a:spcPct val="96000"/>
              </a:lnSpc>
              <a:buSzPct val="100000"/>
              <a:buFont typeface="+mj-lt"/>
              <a:buAutoNum type="arabicPeriod" startAt="5"/>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Customers + Geolocation Key: customer_zip_code </a:t>
            </a:r>
            <a:endParaRPr lang="en-US" sz="950" dirty="0"/>
          </a:p>
        </p:txBody>
      </p:sp>
      <p:sp>
        <p:nvSpPr>
          <p:cNvPr id="20" name="Text 18"/>
          <p:cNvSpPr/>
          <p:nvPr/>
        </p:nvSpPr>
        <p:spPr>
          <a:xfrm>
            <a:off x="4424649" y="2900263"/>
            <a:ext cx="3963491" cy="141784"/>
          </a:xfrm>
          <a:prstGeom prst="rect">
            <a:avLst/>
          </a:prstGeom>
          <a:noFill/>
          <a:ln/>
        </p:spPr>
        <p:txBody>
          <a:bodyPr wrap="none" lIns="0" tIns="0" rIns="0" bIns="0" rtlCol="0" anchor="t"/>
          <a:lstStyle/>
          <a:p>
            <a:pPr marL="0" indent="0" algn="l">
              <a:lnSpc>
                <a:spcPct val="96000"/>
              </a:lnSpc>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This created an integrated e-commerce dataset for analysis.</a:t>
            </a:r>
            <a:endParaRPr lang="en-US" sz="950" dirty="0"/>
          </a:p>
        </p:txBody>
      </p:sp>
      <p:sp>
        <p:nvSpPr>
          <p:cNvPr id="21" name="Text 19"/>
          <p:cNvSpPr/>
          <p:nvPr/>
        </p:nvSpPr>
        <p:spPr>
          <a:xfrm>
            <a:off x="4424649" y="3113881"/>
            <a:ext cx="3353907" cy="354608"/>
          </a:xfrm>
          <a:prstGeom prst="rect">
            <a:avLst/>
          </a:prstGeom>
          <a:noFill/>
          <a:ln/>
        </p:spPr>
        <p:txBody>
          <a:bodyPr wrap="square" lIns="0" tIns="0" rIns="0" bIns="0" rtlCol="0" anchor="t">
            <a:normAutofit/>
          </a:bodyPr>
          <a:lstStyle/>
          <a:p>
            <a:pPr marL="0" indent="0" algn="l">
              <a:lnSpc>
                <a:spcPct val="96000"/>
              </a:lnSpc>
              <a:buNone/>
            </a:pPr>
            <a:r>
              <a:rPr lang="en-US" sz="1200" kern="0" spc="-10" dirty="0">
                <a:solidFill>
                  <a:srgbClr val="FFFFFF"/>
                </a:solidFill>
                <a:latin typeface="Bricolage Grotesque Light" pitchFamily="34" charset="0"/>
                <a:ea typeface="Bricolage Grotesque Light" pitchFamily="34" charset="-122"/>
                <a:cs typeface="Bricolage Grotesque Light" pitchFamily="34" charset="-120"/>
              </a:rPr>
              <a:t>Feature Engineering :  You created/used calculated fields such as:</a:t>
            </a:r>
            <a:endParaRPr lang="en-US" sz="1200" dirty="0"/>
          </a:p>
        </p:txBody>
      </p:sp>
      <p:sp>
        <p:nvSpPr>
          <p:cNvPr id="22" name="Text 20"/>
          <p:cNvSpPr/>
          <p:nvPr/>
        </p:nvSpPr>
        <p:spPr>
          <a:xfrm>
            <a:off x="4424649" y="3540323"/>
            <a:ext cx="3353907" cy="1159768"/>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net_revenue</a:t>
            </a:r>
            <a:endParaRPr lang="en-US" sz="950" dirty="0"/>
          </a:p>
          <a:p>
            <a:pPr marL="193040" indent="-193040" algn="l">
              <a:lnSpc>
                <a:spcPct val="96000"/>
              </a:lnSpc>
              <a:buSzPct val="100000"/>
              <a:buFont typeface="+mj-lt"/>
              <a:buAutoNum type="arabicPeriod" startAt="2"/>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discount_tier </a:t>
            </a:r>
            <a:endParaRPr lang="en-US" sz="950" dirty="0"/>
          </a:p>
          <a:p>
            <a:pPr marL="193040" indent="-193040" algn="l">
              <a:lnSpc>
                <a:spcPct val="96000"/>
              </a:lnSpc>
              <a:buSzPct val="100000"/>
              <a:buFont typeface="+mj-lt"/>
              <a:buAutoNum type="arabicPeriod" startAt="3"/>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total_shipping_cost</a:t>
            </a:r>
            <a:endParaRPr lang="en-US" sz="950" dirty="0"/>
          </a:p>
          <a:p>
            <a:pPr marL="193040" indent="-193040" algn="l">
              <a:lnSpc>
                <a:spcPct val="96000"/>
              </a:lnSpc>
              <a:buSzPct val="100000"/>
              <a:buFont typeface="+mj-lt"/>
              <a:buAutoNum type="arabicPeriod" startAt="4"/>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fulfillment_days</a:t>
            </a:r>
            <a:endParaRPr lang="en-US" sz="950" dirty="0"/>
          </a:p>
          <a:p>
            <a:pPr marL="193040" indent="-193040" algn="l">
              <a:lnSpc>
                <a:spcPct val="96000"/>
              </a:lnSpc>
              <a:buSzPct val="100000"/>
              <a:buFont typeface="+mj-lt"/>
              <a:buAutoNum type="arabicPeriod" startAt="5"/>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delivery_delay_days </a:t>
            </a:r>
            <a:endParaRPr lang="en-US" sz="950" dirty="0"/>
          </a:p>
          <a:p>
            <a:pPr marL="193040" indent="-193040" algn="l">
              <a:lnSpc>
                <a:spcPct val="96000"/>
              </a:lnSpc>
              <a:buSzPct val="100000"/>
              <a:buFont typeface="+mj-lt"/>
              <a:buAutoNum type="arabicPeriod" startAt="6"/>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is_extreme_delay</a:t>
            </a:r>
            <a:endParaRPr lang="en-US" sz="950" dirty="0"/>
          </a:p>
          <a:p>
            <a:pPr marL="193040" indent="-193040" algn="l">
              <a:lnSpc>
                <a:spcPct val="96000"/>
              </a:lnSpc>
              <a:buSzPct val="100000"/>
              <a:buFont typeface="+mj-lt"/>
              <a:buAutoNum type="arabicPeriod" startAt="7"/>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Order month</a:t>
            </a:r>
            <a:endParaRPr lang="en-US" sz="950" dirty="0"/>
          </a:p>
        </p:txBody>
      </p:sp>
      <p:sp>
        <p:nvSpPr>
          <p:cNvPr id="23" name="Shape 21"/>
          <p:cNvSpPr/>
          <p:nvPr/>
        </p:nvSpPr>
        <p:spPr>
          <a:xfrm>
            <a:off x="8030565" y="1301055"/>
            <a:ext cx="3599566" cy="4759623"/>
          </a:xfrm>
          <a:prstGeom prst="roundRect">
            <a:avLst>
              <a:gd name="adj" fmla="val 512"/>
            </a:avLst>
          </a:prstGeom>
          <a:solidFill>
            <a:srgbClr val="FCEC99"/>
          </a:solidFill>
          <a:ln/>
        </p:spPr>
      </p:sp>
      <p:sp>
        <p:nvSpPr>
          <p:cNvPr id="24" name="Text 22"/>
          <p:cNvSpPr/>
          <p:nvPr/>
        </p:nvSpPr>
        <p:spPr>
          <a:xfrm>
            <a:off x="8153394" y="1380827"/>
            <a:ext cx="3353907" cy="383977"/>
          </a:xfrm>
          <a:prstGeom prst="rect">
            <a:avLst/>
          </a:prstGeom>
          <a:noFill/>
          <a:ln/>
        </p:spPr>
        <p:txBody>
          <a:bodyPr wrap="none" lIns="0" tIns="0" rIns="0" bIns="0" rtlCol="0" anchor="t"/>
          <a:lstStyle/>
          <a:p>
            <a:pPr marL="0" indent="0" algn="l">
              <a:lnSpc>
                <a:spcPct val="104000"/>
              </a:lnSpc>
              <a:buNone/>
            </a:pPr>
            <a:r>
              <a:rPr lang="en-US" sz="2400" b="1" kern="0" spc="-97" dirty="0">
                <a:solidFill>
                  <a:srgbClr val="203D2B"/>
                </a:solidFill>
                <a:latin typeface="Libre Baskerville Bold" pitchFamily="34" charset="0"/>
                <a:ea typeface="Libre Baskerville Bold" pitchFamily="34" charset="-122"/>
                <a:cs typeface="Libre Baskerville Bold" pitchFamily="34" charset="-120"/>
              </a:rPr>
              <a:t>Statistical Analysis</a:t>
            </a:r>
            <a:endParaRPr lang="en-US" sz="2400" dirty="0"/>
          </a:p>
        </p:txBody>
      </p:sp>
      <p:sp>
        <p:nvSpPr>
          <p:cNvPr id="25" name="Text 23"/>
          <p:cNvSpPr/>
          <p:nvPr/>
        </p:nvSpPr>
        <p:spPr>
          <a:xfrm>
            <a:off x="8153394" y="1844576"/>
            <a:ext cx="3353907" cy="355402"/>
          </a:xfrm>
          <a:prstGeom prst="rect">
            <a:avLst/>
          </a:prstGeom>
          <a:noFill/>
          <a:ln/>
        </p:spPr>
        <p:txBody>
          <a:bodyPr wrap="square" lIns="0" tIns="0" rIns="0" bIns="0" rtlCol="0" anchor="t"/>
          <a:lstStyle/>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You also performed statistical analysis.</a:t>
            </a:r>
            <a:endParaRPr lang="en-US" sz="950" dirty="0"/>
          </a:p>
          <a:p>
            <a:pPr marL="0" indent="0" algn="l">
              <a:lnSpc>
                <a:spcPct val="96000"/>
              </a:lnSpc>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Correlation Analysis:</a:t>
            </a:r>
            <a:endParaRPr lang="en-US" sz="950" dirty="0"/>
          </a:p>
        </p:txBody>
      </p:sp>
      <p:sp>
        <p:nvSpPr>
          <p:cNvPr id="26" name="Text 24"/>
          <p:cNvSpPr/>
          <p:nvPr/>
        </p:nvSpPr>
        <p:spPr>
          <a:xfrm>
            <a:off x="8153394" y="2271812"/>
            <a:ext cx="3353907" cy="311448"/>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Discount % and Unit Price</a:t>
            </a:r>
            <a:endParaRPr lang="en-US" sz="950" dirty="0"/>
          </a:p>
          <a:p>
            <a:pPr marL="193040" indent="-193040" algn="l">
              <a:lnSpc>
                <a:spcPct val="96000"/>
              </a:lnSpc>
              <a:buSzPct val="100000"/>
              <a:buFont typeface="+mj-lt"/>
              <a:buAutoNum type="arabicPeriod" startAt="2"/>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Delivery Delay and Review Score</a:t>
            </a:r>
            <a:endParaRPr lang="en-US" sz="950" dirty="0"/>
          </a:p>
        </p:txBody>
      </p:sp>
      <p:sp>
        <p:nvSpPr>
          <p:cNvPr id="27" name="Text 25"/>
          <p:cNvSpPr/>
          <p:nvPr/>
        </p:nvSpPr>
        <p:spPr>
          <a:xfrm>
            <a:off x="8153394" y="2655094"/>
            <a:ext cx="3963491" cy="141784"/>
          </a:xfrm>
          <a:prstGeom prst="rect">
            <a:avLst/>
          </a:prstGeom>
          <a:noFill/>
          <a:ln/>
        </p:spPr>
        <p:txBody>
          <a:bodyPr wrap="none" lIns="0" tIns="0" rIns="0" bIns="0" rtlCol="0" anchor="t"/>
          <a:lstStyle/>
          <a:p>
            <a:pPr marL="0" indent="0" algn="l">
              <a:lnSpc>
                <a:spcPct val="96000"/>
              </a:lnSpc>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Central Tendency:You calculated: Measures of Dispersion</a:t>
            </a:r>
            <a:endParaRPr lang="en-US" sz="950" dirty="0"/>
          </a:p>
        </p:txBody>
      </p:sp>
      <p:sp>
        <p:nvSpPr>
          <p:cNvPr id="28" name="Text 26"/>
          <p:cNvSpPr/>
          <p:nvPr/>
        </p:nvSpPr>
        <p:spPr>
          <a:xfrm>
            <a:off x="8153394" y="2868712"/>
            <a:ext cx="3353907" cy="481112"/>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Mean</a:t>
            </a:r>
            <a:endParaRPr lang="en-US" sz="950" dirty="0"/>
          </a:p>
          <a:p>
            <a:pPr marL="193040" indent="-193040" algn="l">
              <a:lnSpc>
                <a:spcPct val="96000"/>
              </a:lnSpc>
              <a:buSzPct val="100000"/>
              <a:buFont typeface="+mj-lt"/>
              <a:buAutoNum type="arabicPeriod" startAt="2"/>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Median</a:t>
            </a:r>
            <a:endParaRPr lang="en-US" sz="950" dirty="0"/>
          </a:p>
          <a:p>
            <a:pPr marL="193040" indent="-193040" algn="l">
              <a:lnSpc>
                <a:spcPct val="96000"/>
              </a:lnSpc>
              <a:buSzPct val="100000"/>
              <a:buFont typeface="+mj-lt"/>
              <a:buAutoNum type="arabicPeriod" startAt="3"/>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Mode</a:t>
            </a:r>
            <a:endParaRPr lang="en-US" sz="950" dirty="0"/>
          </a:p>
        </p:txBody>
      </p:sp>
      <p:sp>
        <p:nvSpPr>
          <p:cNvPr id="29" name="Text 27"/>
          <p:cNvSpPr/>
          <p:nvPr/>
        </p:nvSpPr>
        <p:spPr>
          <a:xfrm>
            <a:off x="8153394" y="3421658"/>
            <a:ext cx="3963491" cy="141784"/>
          </a:xfrm>
          <a:prstGeom prst="rect">
            <a:avLst/>
          </a:prstGeom>
          <a:noFill/>
          <a:ln/>
        </p:spPr>
        <p:txBody>
          <a:bodyPr wrap="none" lIns="0" tIns="0" rIns="0" bIns="0" rtlCol="0" anchor="t"/>
          <a:lstStyle/>
          <a:p>
            <a:pPr marL="0" indent="0" algn="l">
              <a:lnSpc>
                <a:spcPct val="96000"/>
              </a:lnSpc>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You calculated:</a:t>
            </a:r>
            <a:endParaRPr lang="en-US" sz="950" dirty="0"/>
          </a:p>
        </p:txBody>
      </p:sp>
      <p:sp>
        <p:nvSpPr>
          <p:cNvPr id="30" name="Text 28"/>
          <p:cNvSpPr/>
          <p:nvPr/>
        </p:nvSpPr>
        <p:spPr>
          <a:xfrm>
            <a:off x="8153394" y="3635276"/>
            <a:ext cx="3353907" cy="1159768"/>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Minimum</a:t>
            </a:r>
            <a:endParaRPr lang="en-US" sz="950" dirty="0"/>
          </a:p>
          <a:p>
            <a:pPr marL="193040" indent="-193040" algn="l">
              <a:lnSpc>
                <a:spcPct val="96000"/>
              </a:lnSpc>
              <a:buSzPct val="100000"/>
              <a:buFont typeface="+mj-lt"/>
              <a:buAutoNum type="arabicPeriod" startAt="2"/>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Maximum</a:t>
            </a:r>
            <a:endParaRPr lang="en-US" sz="950" dirty="0"/>
          </a:p>
          <a:p>
            <a:pPr marL="193040" indent="-193040" algn="l">
              <a:lnSpc>
                <a:spcPct val="96000"/>
              </a:lnSpc>
              <a:buSzPct val="100000"/>
              <a:buFont typeface="+mj-lt"/>
              <a:buAutoNum type="arabicPeriod" startAt="3"/>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Range</a:t>
            </a:r>
            <a:endParaRPr lang="en-US" sz="950" dirty="0"/>
          </a:p>
          <a:p>
            <a:pPr marL="193040" indent="-193040" algn="l">
              <a:lnSpc>
                <a:spcPct val="96000"/>
              </a:lnSpc>
              <a:buSzPct val="100000"/>
              <a:buFont typeface="+mj-lt"/>
              <a:buAutoNum type="arabicPeriod" startAt="4"/>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Variance</a:t>
            </a:r>
            <a:endParaRPr lang="en-US" sz="950" dirty="0"/>
          </a:p>
          <a:p>
            <a:pPr marL="193040" indent="-193040" algn="l">
              <a:lnSpc>
                <a:spcPct val="96000"/>
              </a:lnSpc>
              <a:buSzPct val="100000"/>
              <a:buFont typeface="+mj-lt"/>
              <a:buAutoNum type="arabicPeriod" startAt="5"/>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Standard deviation</a:t>
            </a:r>
            <a:endParaRPr lang="en-US" sz="950" dirty="0"/>
          </a:p>
          <a:p>
            <a:pPr marL="193040" indent="-193040" algn="l">
              <a:lnSpc>
                <a:spcPct val="96000"/>
              </a:lnSpc>
              <a:buSzPct val="100000"/>
              <a:buFont typeface="+mj-lt"/>
              <a:buAutoNum type="arabicPeriod" startAt="6"/>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Distribution</a:t>
            </a:r>
            <a:endParaRPr lang="en-US" sz="950" dirty="0"/>
          </a:p>
          <a:p>
            <a:pPr marL="193040" indent="-193040" algn="l">
              <a:lnSpc>
                <a:spcPct val="96000"/>
              </a:lnSpc>
              <a:buSzPct val="100000"/>
              <a:buFont typeface="+mj-lt"/>
              <a:buAutoNum type="arabicPeriod" startAt="7"/>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Skewness</a:t>
            </a:r>
            <a:endParaRPr lang="en-US" sz="950" dirty="0"/>
          </a:p>
        </p:txBody>
      </p:sp>
      <p:sp>
        <p:nvSpPr>
          <p:cNvPr id="31" name="Text 29"/>
          <p:cNvSpPr/>
          <p:nvPr/>
        </p:nvSpPr>
        <p:spPr>
          <a:xfrm>
            <a:off x="8153394" y="4866878"/>
            <a:ext cx="3353907" cy="355402"/>
          </a:xfrm>
          <a:prstGeom prst="rect">
            <a:avLst/>
          </a:prstGeom>
          <a:noFill/>
          <a:ln/>
        </p:spPr>
        <p:txBody>
          <a:bodyPr wrap="square" lIns="0" tIns="0" rIns="0" bIns="0" rtlCol="0" anchor="t"/>
          <a:lstStyle/>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You calculated:</a:t>
            </a:r>
            <a:endParaRPr lang="en-US" sz="950" dirty="0"/>
          </a:p>
          <a:p>
            <a:pPr marL="0" indent="0" algn="l">
              <a:lnSpc>
                <a:spcPct val="96000"/>
              </a:lnSpc>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This was applied to numerical variables such as:</a:t>
            </a:r>
            <a:endParaRPr lang="en-US" sz="950" dirty="0"/>
          </a:p>
        </p:txBody>
      </p:sp>
      <p:sp>
        <p:nvSpPr>
          <p:cNvPr id="32" name="Text 30"/>
          <p:cNvSpPr/>
          <p:nvPr/>
        </p:nvSpPr>
        <p:spPr>
          <a:xfrm>
            <a:off x="8153394" y="5294114"/>
            <a:ext cx="3353907" cy="481112"/>
          </a:xfrm>
          <a:prstGeom prst="rect">
            <a:avLst/>
          </a:prstGeom>
          <a:noFill/>
          <a:ln/>
        </p:spPr>
        <p:txBody>
          <a:bodyPr wrap="square" lIns="0" tIns="0" rIns="0" bIns="0" rtlCol="0" anchor="t">
            <a:normAutofit/>
          </a:bodyPr>
          <a:lstStyle/>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Selling price</a:t>
            </a:r>
            <a:endParaRPr lang="en-US" sz="950" dirty="0"/>
          </a:p>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Cost price</a:t>
            </a:r>
            <a:endParaRPr lang="en-US" sz="950" dirty="0"/>
          </a:p>
          <a:p>
            <a:pPr marL="193040" indent="-193040" algn="l">
              <a:lnSpc>
                <a:spcPct val="96000"/>
              </a:lnSpc>
              <a:buSzPct val="100000"/>
              <a:buChar char="•"/>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Quantity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38088"/>
            <a:ext cx="10868745" cy="383977"/>
          </a:xfrm>
          <a:prstGeom prst="rect">
            <a:avLst/>
          </a:prstGeom>
          <a:noFill/>
          <a:ln/>
        </p:spPr>
        <p:txBody>
          <a:bodyPr wrap="none" lIns="0" tIns="0" rIns="0" bIns="0" rtlCol="0" anchor="t"/>
          <a:lstStyle/>
          <a:p>
            <a:pPr marL="0" indent="0" algn="l">
              <a:lnSpc>
                <a:spcPct val="104000"/>
              </a:lnSpc>
              <a:buNone/>
            </a:pPr>
            <a:r>
              <a:rPr lang="en-US" sz="2400" b="1" kern="0" spc="-97" dirty="0">
                <a:solidFill>
                  <a:srgbClr val="FFFFFF"/>
                </a:solidFill>
                <a:latin typeface="Libre Baskerville Bold" pitchFamily="34" charset="0"/>
                <a:ea typeface="Libre Baskerville Bold" pitchFamily="34" charset="-122"/>
                <a:cs typeface="Libre Baskerville Bold" pitchFamily="34" charset="-120"/>
              </a:rPr>
              <a:t>Data Visualization</a:t>
            </a:r>
            <a:endParaRPr lang="en-US" sz="2400" dirty="0"/>
          </a:p>
        </p:txBody>
      </p:sp>
      <p:sp>
        <p:nvSpPr>
          <p:cNvPr id="3" name="Text 1"/>
          <p:cNvSpPr/>
          <p:nvPr/>
        </p:nvSpPr>
        <p:spPr>
          <a:xfrm>
            <a:off x="661475" y="1281708"/>
            <a:ext cx="11478330" cy="141784"/>
          </a:xfrm>
          <a:prstGeom prst="rect">
            <a:avLst/>
          </a:prstGeom>
          <a:noFill/>
          <a:ln/>
        </p:spPr>
        <p:txBody>
          <a:bodyPr wrap="none" lIns="0" tIns="0" rIns="0" bIns="0" rtlCol="0" anchor="t"/>
          <a:lstStyle/>
          <a:p>
            <a:pPr marL="0" indent="0" algn="l">
              <a:lnSpc>
                <a:spcPct val="96000"/>
              </a:lnSpc>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You created different visualizations using Matplotlib and Seaborn, including:</a:t>
            </a:r>
            <a:endParaRPr lang="en-US" sz="950" dirty="0"/>
          </a:p>
        </p:txBody>
      </p:sp>
      <p:sp>
        <p:nvSpPr>
          <p:cNvPr id="4" name="Text 2"/>
          <p:cNvSpPr/>
          <p:nvPr/>
        </p:nvSpPr>
        <p:spPr>
          <a:xfrm>
            <a:off x="661475" y="1513284"/>
            <a:ext cx="10868745" cy="990104"/>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Bar charts</a:t>
            </a:r>
            <a:endParaRPr lang="en-US" sz="950" dirty="0"/>
          </a:p>
          <a:p>
            <a:pPr marL="193040" indent="-193040" algn="l">
              <a:lnSpc>
                <a:spcPct val="96000"/>
              </a:lnSpc>
              <a:buSzPct val="100000"/>
              <a:buFont typeface="+mj-lt"/>
              <a:buAutoNum type="arabicPeriod" startAt="2"/>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Horizontal bar charts</a:t>
            </a:r>
            <a:endParaRPr lang="en-US" sz="950" dirty="0"/>
          </a:p>
          <a:p>
            <a:pPr marL="193040" indent="-193040" algn="l">
              <a:lnSpc>
                <a:spcPct val="96000"/>
              </a:lnSpc>
              <a:buSzPct val="100000"/>
              <a:buFont typeface="+mj-lt"/>
              <a:buAutoNum type="arabicPeriod" startAt="3"/>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Pie charts</a:t>
            </a:r>
            <a:endParaRPr lang="en-US" sz="950" dirty="0"/>
          </a:p>
          <a:p>
            <a:pPr marL="193040" indent="-193040" algn="l">
              <a:lnSpc>
                <a:spcPct val="96000"/>
              </a:lnSpc>
              <a:buSzPct val="100000"/>
              <a:buFont typeface="+mj-lt"/>
              <a:buAutoNum type="arabicPeriod" startAt="4"/>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Histograms</a:t>
            </a:r>
            <a:endParaRPr lang="en-US" sz="950" dirty="0"/>
          </a:p>
          <a:p>
            <a:pPr marL="193040" indent="-193040" algn="l">
              <a:lnSpc>
                <a:spcPct val="96000"/>
              </a:lnSpc>
              <a:buSzPct val="100000"/>
              <a:buFont typeface="+mj-lt"/>
              <a:buAutoNum type="arabicPeriod" startAt="5"/>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Line charts</a:t>
            </a:r>
            <a:endParaRPr lang="en-US" sz="950" dirty="0"/>
          </a:p>
          <a:p>
            <a:pPr marL="193040" indent="-193040" algn="l">
              <a:lnSpc>
                <a:spcPct val="96000"/>
              </a:lnSpc>
              <a:buSzPct val="100000"/>
              <a:buFont typeface="+mj-lt"/>
              <a:buAutoNum type="arabicPeriod" startAt="6"/>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Distribution plots</a:t>
            </a:r>
            <a:endParaRPr lang="en-US" sz="950" dirty="0"/>
          </a:p>
        </p:txBody>
      </p:sp>
      <p:sp>
        <p:nvSpPr>
          <p:cNvPr id="5" name="Text 3"/>
          <p:cNvSpPr/>
          <p:nvPr/>
        </p:nvSpPr>
        <p:spPr>
          <a:xfrm>
            <a:off x="661475" y="2593181"/>
            <a:ext cx="10868745" cy="1762820"/>
          </a:xfrm>
          <a:prstGeom prst="rect">
            <a:avLst/>
          </a:prstGeom>
          <a:noFill/>
          <a:ln/>
        </p:spPr>
        <p:txBody>
          <a:bodyPr wrap="square" lIns="0" tIns="0" rIns="0" bIns="0" rtlCol="0" anchor="t"/>
          <a:lstStyle/>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These visualizations were used to make the business patterns easier to understand.</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Automated EDA</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Your notebook also includes Sweetviz for automated exploratory data analysis.</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You can explain:</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“Sweetviz was used to automatically generate an exploratory data analysis report containing statistical summaries, distributions, missing-value information, and relationships between variables.”</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Interactive Dashboard</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You also created a Streamlit E-Commerce Analytics Dashboard.</a:t>
            </a:r>
            <a:endParaRPr lang="en-US" sz="950" dirty="0"/>
          </a:p>
          <a:p>
            <a:pPr marL="0" indent="0" algn="l">
              <a:lnSpc>
                <a:spcPct val="96000"/>
              </a:lnSpc>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Data Cleaning</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1475" y="4445794"/>
          <a:ext cx="10868746" cy="1661376"/>
        </p:xfrm>
        <a:graphic>
          <a:graphicData uri="http://schemas.openxmlformats.org/drawingml/2006/table">
            <a:tbl>
              <a:tblPr/>
              <a:tblGrid>
                <a:gridCol w="3855144">
                  <a:extLst>
                    <a:ext uri="{9D8B030D-6E8A-4147-A177-3AD203B41FA5}">
                      <a16:colId xmlns:a16="http://schemas.microsoft.com/office/drawing/2014/main" val="20000"/>
                    </a:ext>
                  </a:extLst>
                </a:gridCol>
                <a:gridCol w="3701895">
                  <a:extLst>
                    <a:ext uri="{9D8B030D-6E8A-4147-A177-3AD203B41FA5}">
                      <a16:colId xmlns:a16="http://schemas.microsoft.com/office/drawing/2014/main" val="20001"/>
                    </a:ext>
                  </a:extLst>
                </a:gridCol>
                <a:gridCol w="3311707">
                  <a:extLst>
                    <a:ext uri="{9D8B030D-6E8A-4147-A177-3AD203B41FA5}">
                      <a16:colId xmlns:a16="http://schemas.microsoft.com/office/drawing/2014/main" val="20002"/>
                    </a:ext>
                  </a:extLst>
                </a:gridCol>
              </a:tblGrid>
              <a:tr h="1411252">
                <a:tc>
                  <a:txBody>
                    <a:bodyPr/>
                    <a:lstStyle/>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 Duplicate Removal</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Missing Value Treatment</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Date-Time Conversion</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Outlier Detection</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Data Integration / Merging</a:t>
                      </a:r>
                      <a:endParaRPr lang="en-US" sz="1200" dirty="0">
                        <a:latin typeface="Bricolage Grotesque" charset="0"/>
                        <a:ea typeface="Bricolage Grotesque" charset="0"/>
                        <a:cs typeface="Bricolage Grotesque" charset="0"/>
                      </a:endParaRPr>
                    </a:p>
                  </a:txBody>
                  <a:tcPr marL="122862" marR="122862" marT="6350" marB="6350" anchor="ctr">
                    <a:lnL w="12700" cap="flat" cmpd="sng" algn="ctr">
                      <a:solidFill>
                        <a:srgbClr val="566C5E"/>
                      </a:solidFill>
                      <a:prstDash val="solid"/>
                      <a:round/>
                      <a:headEnd type="none" w="med" len="med"/>
                      <a:tailEnd type="none" w="med" len="med"/>
                    </a:lnL>
                    <a:lnR w="12700" cap="flat" cmpd="sng" algn="ctr">
                      <a:solidFill>
                        <a:srgbClr val="FCEC99"/>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FCEC99"/>
                      </a:solidFill>
                      <a:prstDash val="solid"/>
                      <a:round/>
                      <a:headEnd type="none" w="med" len="med"/>
                      <a:tailEnd type="none" w="med" len="med"/>
                    </a:lnB>
                    <a:solidFill>
                      <a:srgbClr val="FCEC99"/>
                    </a:solidFill>
                  </a:tcPr>
                </a:tc>
                <a:tc>
                  <a:txBody>
                    <a:bodyPr/>
                    <a:lstStyle/>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Feature Engineering</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Exploratory Data Analysis</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Business Questions and Analysis</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Data Visualization</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272525"/>
                          </a:solidFill>
                          <a:latin typeface="Bricolage Grotesque" pitchFamily="34" charset="0"/>
                          <a:ea typeface="Bricolage Grotesque" pitchFamily="34" charset="-122"/>
                          <a:cs typeface="Bricolage Grotesque" pitchFamily="34" charset="-120"/>
                        </a:rPr>
                        <a:t>Statistical Analysis</a:t>
                      </a:r>
                      <a:endParaRPr lang="en-US" sz="1200" dirty="0">
                        <a:latin typeface="Bricolage Grotesque" charset="0"/>
                        <a:ea typeface="Bricolage Grotesque" charset="0"/>
                        <a:cs typeface="Bricolage Grotesque" charset="0"/>
                      </a:endParaRPr>
                    </a:p>
                  </a:txBody>
                  <a:tcPr marL="122862" marR="122862" marT="6350" marB="6350" anchor="ctr">
                    <a:lnL w="12700" cap="flat" cmpd="sng" algn="ctr">
                      <a:solidFill>
                        <a:srgbClr val="FCEC99"/>
                      </a:solidFill>
                      <a:prstDash val="solid"/>
                      <a:round/>
                      <a:headEnd type="none" w="med" len="med"/>
                      <a:tailEnd type="none" w="med" len="med"/>
                    </a:lnL>
                    <a:lnR w="12700" cap="flat" cmpd="sng" algn="ctr">
                      <a:solidFill>
                        <a:srgbClr val="C6A75E"/>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C6A75E"/>
                      </a:solidFill>
                      <a:prstDash val="solid"/>
                      <a:round/>
                      <a:headEnd type="none" w="med" len="med"/>
                      <a:tailEnd type="none" w="med" len="med"/>
                    </a:lnB>
                    <a:solidFill>
                      <a:srgbClr val="C6A75E"/>
                    </a:solidFill>
                  </a:tcPr>
                </a:tc>
                <a:tc>
                  <a:txBody>
                    <a:bodyPr/>
                    <a:lstStyle/>
                    <a:p>
                      <a:pPr marL="0" indent="0">
                        <a:buNone/>
                      </a:pPr>
                      <a:r>
                        <a:rPr lang="en-US" sz="1200" kern="0" spc="-10" dirty="0">
                          <a:solidFill>
                            <a:srgbClr val="FFFFFF"/>
                          </a:solidFill>
                          <a:latin typeface="Bricolage Grotesque" pitchFamily="34" charset="0"/>
                          <a:ea typeface="Bricolage Grotesque" pitchFamily="34" charset="-122"/>
                          <a:cs typeface="Bricolage Grotesque" pitchFamily="34" charset="-120"/>
                        </a:rPr>
                        <a:t>Central TendencyDispersion</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FFFFFF"/>
                          </a:solidFill>
                          <a:latin typeface="Bricolage Grotesque" pitchFamily="34" charset="0"/>
                          <a:ea typeface="Bricolage Grotesque" pitchFamily="34" charset="-122"/>
                          <a:cs typeface="Bricolage Grotesque" pitchFamily="34" charset="-120"/>
                        </a:rPr>
                        <a:t>Correlation</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FFFFFF"/>
                          </a:solidFill>
                          <a:latin typeface="Bricolage Grotesque" pitchFamily="34" charset="0"/>
                          <a:ea typeface="Bricolage Grotesque" pitchFamily="34" charset="-122"/>
                          <a:cs typeface="Bricolage Grotesque" pitchFamily="34" charset="-120"/>
                        </a:rPr>
                        <a:t>Skewness</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FFFFFF"/>
                          </a:solidFill>
                          <a:latin typeface="Bricolage Grotesque" pitchFamily="34" charset="0"/>
                          <a:ea typeface="Bricolage Grotesque" pitchFamily="34" charset="-122"/>
                          <a:cs typeface="Bricolage Grotesque" pitchFamily="34" charset="-120"/>
                        </a:rPr>
                        <a:t>Automated EDA using Sweetviz</a:t>
                      </a:r>
                      <a:endParaRPr lang="en-US" sz="1200" dirty="0">
                        <a:latin typeface="Bricolage Grotesque" charset="0"/>
                        <a:ea typeface="Bricolage Grotesque" charset="0"/>
                        <a:cs typeface="Bricolage Grotesque" charset="0"/>
                      </a:endParaRPr>
                    </a:p>
                    <a:p>
                      <a:pPr marL="0" indent="0">
                        <a:buNone/>
                      </a:pPr>
                      <a:r>
                        <a:rPr lang="en-US" sz="1200" kern="0" spc="-10" dirty="0">
                          <a:solidFill>
                            <a:srgbClr val="FFFFFF"/>
                          </a:solidFill>
                          <a:latin typeface="Bricolage Grotesque" pitchFamily="34" charset="0"/>
                          <a:ea typeface="Bricolage Grotesque" pitchFamily="34" charset="-122"/>
                          <a:cs typeface="Bricolage Grotesque" pitchFamily="34" charset="-120"/>
                        </a:rPr>
                        <a:t>Streamlit Dashboard</a:t>
                      </a:r>
                      <a:endParaRPr lang="en-US" sz="1200" dirty="0">
                        <a:latin typeface="Bricolage Grotesque" charset="0"/>
                        <a:ea typeface="Bricolage Grotesque" charset="0"/>
                        <a:cs typeface="Bricolage Grotesque" charset="0"/>
                      </a:endParaRPr>
                    </a:p>
                  </a:txBody>
                  <a:tcPr marL="122862" marR="122862" marT="6350" marB="6350" anchor="ctr">
                    <a:lnL w="12700" cap="flat" cmpd="sng" algn="ctr">
                      <a:solidFill>
                        <a:srgbClr val="C6A75E"/>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566C5E"/>
                      </a:solidFill>
                      <a:prstDash val="solid"/>
                      <a:round/>
                      <a:headEnd type="none" w="med" len="med"/>
                      <a:tailEnd type="none" w="med" len="med"/>
                    </a:lnT>
                    <a:lnB w="12700" cap="flat" cmpd="sng" algn="ctr">
                      <a:solidFill>
                        <a:srgbClr val="7A5A2E"/>
                      </a:solidFill>
                      <a:prstDash val="solid"/>
                      <a:round/>
                      <a:headEnd type="none" w="med" len="med"/>
                      <a:tailEnd type="none" w="med" len="med"/>
                    </a:lnB>
                    <a:solidFill>
                      <a:srgbClr val="7A5A2E"/>
                    </a:solidFill>
                  </a:tcPr>
                </a:tc>
                <a:extLst>
                  <a:ext uri="{0D108BD9-81ED-4DB2-BD59-A6C34878D82A}">
                    <a16:rowId xmlns:a16="http://schemas.microsoft.com/office/drawing/2014/main" val="10000"/>
                  </a:ext>
                </a:extLst>
              </a:tr>
              <a:tr h="250124">
                <a:tc>
                  <a:txBody>
                    <a:bodyPr/>
                    <a:lstStyle/>
                    <a:p>
                      <a:pPr marL="0" indent="0">
                        <a:buNone/>
                      </a:pPr>
                      <a:endParaRPr lang="en-US" sz="950" dirty="0">
                        <a:latin typeface="Bricolage Grotesque" charset="0"/>
                        <a:ea typeface="Bricolage Grotesque" charset="0"/>
                        <a:cs typeface="Bricolage Grotesque" charset="0"/>
                      </a:endParaRPr>
                    </a:p>
                  </a:txBody>
                  <a:tcPr marL="122862" marR="122862" marT="6350" marB="6350" anchor="ctr">
                    <a:lnL w="12700" cap="flat" cmpd="sng" algn="ctr">
                      <a:solidFill>
                        <a:srgbClr val="566C5E"/>
                      </a:solidFill>
                      <a:prstDash val="solid"/>
                      <a:round/>
                      <a:headEnd type="none" w="med" len="med"/>
                      <a:tailEnd type="none" w="med" len="med"/>
                    </a:lnL>
                    <a:lnR w="12700" cap="flat" cmpd="sng" algn="ctr">
                      <a:solidFill>
                        <a:srgbClr val="FCEC99"/>
                      </a:solidFill>
                      <a:prstDash val="solid"/>
                      <a:round/>
                      <a:headEnd type="none" w="med" len="med"/>
                      <a:tailEnd type="none" w="med" len="med"/>
                    </a:lnR>
                    <a:lnT w="12700" cap="flat" cmpd="sng" algn="ctr">
                      <a:solidFill>
                        <a:srgbClr val="FCEC99"/>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FCEC99"/>
                    </a:solidFill>
                  </a:tcPr>
                </a:tc>
                <a:tc>
                  <a:txBody>
                    <a:bodyPr/>
                    <a:lstStyle/>
                    <a:p>
                      <a:pPr marL="0" indent="0">
                        <a:buNone/>
                      </a:pPr>
                      <a:endParaRPr lang="en-US" sz="950" dirty="0">
                        <a:latin typeface="Bricolage Grotesque" charset="0"/>
                        <a:ea typeface="Bricolage Grotesque" charset="0"/>
                        <a:cs typeface="Bricolage Grotesque" charset="0"/>
                      </a:endParaRPr>
                    </a:p>
                  </a:txBody>
                  <a:tcPr marL="122862" marR="122862" marT="6350" marB="6350" anchor="ctr">
                    <a:lnL w="12700" cap="flat" cmpd="sng" algn="ctr">
                      <a:solidFill>
                        <a:srgbClr val="FCEC99"/>
                      </a:solidFill>
                      <a:prstDash val="solid"/>
                      <a:round/>
                      <a:headEnd type="none" w="med" len="med"/>
                      <a:tailEnd type="none" w="med" len="med"/>
                    </a:lnL>
                    <a:lnR w="12700" cap="flat" cmpd="sng" algn="ctr">
                      <a:solidFill>
                        <a:srgbClr val="C6A75E"/>
                      </a:solidFill>
                      <a:prstDash val="solid"/>
                      <a:round/>
                      <a:headEnd type="none" w="med" len="med"/>
                      <a:tailEnd type="none" w="med" len="med"/>
                    </a:lnR>
                    <a:lnT w="12700" cap="flat" cmpd="sng" algn="ctr">
                      <a:solidFill>
                        <a:srgbClr val="C6A75E"/>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C6A75E"/>
                    </a:solidFill>
                  </a:tcPr>
                </a:tc>
                <a:tc>
                  <a:txBody>
                    <a:bodyPr/>
                    <a:lstStyle/>
                    <a:p>
                      <a:pPr marL="0" indent="0">
                        <a:buNone/>
                      </a:pPr>
                      <a:endParaRPr lang="en-US" sz="950" dirty="0">
                        <a:latin typeface="Bricolage Grotesque" charset="0"/>
                        <a:ea typeface="Bricolage Grotesque" charset="0"/>
                        <a:cs typeface="Bricolage Grotesque" charset="0"/>
                      </a:endParaRPr>
                    </a:p>
                  </a:txBody>
                  <a:tcPr marL="122862" marR="122862" marT="6350" marB="6350" anchor="ctr">
                    <a:lnL w="12700" cap="flat" cmpd="sng" algn="ctr">
                      <a:solidFill>
                        <a:srgbClr val="C6A75E"/>
                      </a:solidFill>
                      <a:prstDash val="solid"/>
                      <a:round/>
                      <a:headEnd type="none" w="med" len="med"/>
                      <a:tailEnd type="none" w="med" len="med"/>
                    </a:lnL>
                    <a:lnR w="12700" cap="flat" cmpd="sng" algn="ctr">
                      <a:solidFill>
                        <a:srgbClr val="566C5E"/>
                      </a:solidFill>
                      <a:prstDash val="solid"/>
                      <a:round/>
                      <a:headEnd type="none" w="med" len="med"/>
                      <a:tailEnd type="none" w="med" len="med"/>
                    </a:lnR>
                    <a:lnT w="12700" cap="flat" cmpd="sng" algn="ctr">
                      <a:solidFill>
                        <a:srgbClr val="7A5A2E"/>
                      </a:solidFill>
                      <a:prstDash val="solid"/>
                      <a:round/>
                      <a:headEnd type="none" w="med" len="med"/>
                      <a:tailEnd type="none" w="med" len="med"/>
                    </a:lnT>
                    <a:lnB w="12700" cap="flat" cmpd="sng" algn="ctr">
                      <a:solidFill>
                        <a:srgbClr val="566C5E"/>
                      </a:solidFill>
                      <a:prstDash val="solid"/>
                      <a:round/>
                      <a:headEnd type="none" w="med" len="med"/>
                      <a:tailEnd type="none" w="med" len="med"/>
                    </a:lnB>
                    <a:solidFill>
                      <a:srgbClr val="7A5A2E"/>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25884"/>
            <a:ext cx="10868745" cy="383977"/>
          </a:xfrm>
          <a:prstGeom prst="rect">
            <a:avLst/>
          </a:prstGeom>
          <a:noFill/>
          <a:ln/>
        </p:spPr>
        <p:txBody>
          <a:bodyPr wrap="none" lIns="0" tIns="0" rIns="0" bIns="0" rtlCol="0" anchor="t"/>
          <a:lstStyle/>
          <a:p>
            <a:pPr marL="0" indent="0" algn="l">
              <a:lnSpc>
                <a:spcPct val="104000"/>
              </a:lnSpc>
              <a:buNone/>
            </a:pPr>
            <a:r>
              <a:rPr lang="en-US" sz="2400" b="1" kern="0" spc="-97" dirty="0">
                <a:solidFill>
                  <a:srgbClr val="FFFFFF"/>
                </a:solidFill>
                <a:latin typeface="Libre Baskerville Bold" pitchFamily="34" charset="0"/>
                <a:ea typeface="Libre Baskerville Bold" pitchFamily="34" charset="-122"/>
                <a:cs typeface="Libre Baskerville Bold" pitchFamily="34" charset="-120"/>
              </a:rPr>
              <a:t>Data Visualization</a:t>
            </a:r>
            <a:endParaRPr lang="en-US" sz="2400" dirty="0"/>
          </a:p>
        </p:txBody>
      </p:sp>
      <p:sp>
        <p:nvSpPr>
          <p:cNvPr id="3" name="Text 1"/>
          <p:cNvSpPr/>
          <p:nvPr/>
        </p:nvSpPr>
        <p:spPr>
          <a:xfrm>
            <a:off x="661475" y="1269504"/>
            <a:ext cx="11478330" cy="141784"/>
          </a:xfrm>
          <a:prstGeom prst="rect">
            <a:avLst/>
          </a:prstGeom>
          <a:noFill/>
          <a:ln/>
        </p:spPr>
        <p:txBody>
          <a:bodyPr wrap="none" lIns="0" tIns="0" rIns="0" bIns="0" rtlCol="0" anchor="t"/>
          <a:lstStyle/>
          <a:p>
            <a:pPr marL="0" indent="0" algn="l">
              <a:lnSpc>
                <a:spcPct val="96000"/>
              </a:lnSpc>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You created different visualizations using Matplotlib and Seaborn, including:</a:t>
            </a:r>
            <a:endParaRPr lang="en-US" sz="950" dirty="0"/>
          </a:p>
        </p:txBody>
      </p:sp>
      <p:sp>
        <p:nvSpPr>
          <p:cNvPr id="4" name="Text 2"/>
          <p:cNvSpPr/>
          <p:nvPr/>
        </p:nvSpPr>
        <p:spPr>
          <a:xfrm>
            <a:off x="661475" y="1501080"/>
            <a:ext cx="10868745" cy="990104"/>
          </a:xfrm>
          <a:prstGeom prst="rect">
            <a:avLst/>
          </a:prstGeom>
          <a:noFill/>
          <a:ln/>
        </p:spPr>
        <p:txBody>
          <a:bodyPr wrap="square" lIns="0" tIns="0" rIns="0" bIns="0" rtlCol="0" anchor="t">
            <a:normAutofit/>
          </a:bodyPr>
          <a:lstStyle/>
          <a:p>
            <a:pPr marL="193040" indent="-193040" algn="l">
              <a:lnSpc>
                <a:spcPct val="96000"/>
              </a:lnSpc>
              <a:buSzPct val="100000"/>
              <a:buFont typeface="+mj-lt"/>
              <a:buAutoNum type="arabicPeriod"/>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Bar charts</a:t>
            </a:r>
            <a:endParaRPr lang="en-US" sz="950" dirty="0"/>
          </a:p>
          <a:p>
            <a:pPr marL="193040" indent="-193040" algn="l">
              <a:lnSpc>
                <a:spcPct val="96000"/>
              </a:lnSpc>
              <a:buSzPct val="100000"/>
              <a:buFont typeface="+mj-lt"/>
              <a:buAutoNum type="arabicPeriod" startAt="2"/>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Horizontal bar charts</a:t>
            </a:r>
            <a:endParaRPr lang="en-US" sz="950" dirty="0"/>
          </a:p>
          <a:p>
            <a:pPr marL="193040" indent="-193040" algn="l">
              <a:lnSpc>
                <a:spcPct val="96000"/>
              </a:lnSpc>
              <a:buSzPct val="100000"/>
              <a:buFont typeface="+mj-lt"/>
              <a:buAutoNum type="arabicPeriod" startAt="3"/>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Pie charts</a:t>
            </a:r>
            <a:endParaRPr lang="en-US" sz="950" dirty="0"/>
          </a:p>
          <a:p>
            <a:pPr marL="193040" indent="-193040" algn="l">
              <a:lnSpc>
                <a:spcPct val="96000"/>
              </a:lnSpc>
              <a:buSzPct val="100000"/>
              <a:buFont typeface="+mj-lt"/>
              <a:buAutoNum type="arabicPeriod" startAt="4"/>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Histograms</a:t>
            </a:r>
            <a:endParaRPr lang="en-US" sz="950" dirty="0"/>
          </a:p>
          <a:p>
            <a:pPr marL="193040" indent="-193040" algn="l">
              <a:lnSpc>
                <a:spcPct val="96000"/>
              </a:lnSpc>
              <a:buSzPct val="100000"/>
              <a:buFont typeface="+mj-lt"/>
              <a:buAutoNum type="arabicPeriod" startAt="5"/>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Line charts</a:t>
            </a:r>
            <a:endParaRPr lang="en-US" sz="950" dirty="0"/>
          </a:p>
          <a:p>
            <a:pPr marL="193040" indent="-193040" algn="l">
              <a:lnSpc>
                <a:spcPct val="96000"/>
              </a:lnSpc>
              <a:buSzPct val="100000"/>
              <a:buFont typeface="+mj-lt"/>
              <a:buAutoNum type="arabicPeriod" startAt="6"/>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Distribution plots</a:t>
            </a:r>
            <a:endParaRPr lang="en-US" sz="950" dirty="0"/>
          </a:p>
        </p:txBody>
      </p:sp>
      <p:sp>
        <p:nvSpPr>
          <p:cNvPr id="5" name="Text 3"/>
          <p:cNvSpPr/>
          <p:nvPr/>
        </p:nvSpPr>
        <p:spPr>
          <a:xfrm>
            <a:off x="661475" y="2580977"/>
            <a:ext cx="10868745" cy="604937"/>
          </a:xfrm>
          <a:prstGeom prst="rect">
            <a:avLst/>
          </a:prstGeom>
          <a:noFill/>
          <a:ln/>
        </p:spPr>
        <p:txBody>
          <a:bodyPr wrap="square" lIns="0" tIns="0" rIns="0" bIns="0" rtlCol="0" anchor="t"/>
          <a:lstStyle/>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These visualizations were used to make the business patterns easier to understand.                                                  </a:t>
            </a:r>
            <a:endParaRPr lang="en-US" sz="950" dirty="0"/>
          </a:p>
          <a:p>
            <a:pPr marL="0" indent="0" algn="l">
              <a:lnSpc>
                <a:spcPct val="96000"/>
              </a:lnSpc>
              <a:spcAft>
                <a:spcPts val="700"/>
              </a:spcAft>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Interactive Dashboard</a:t>
            </a:r>
            <a:endParaRPr lang="en-US" sz="950" dirty="0"/>
          </a:p>
          <a:p>
            <a:pPr marL="0" indent="0" algn="l">
              <a:lnSpc>
                <a:spcPct val="96000"/>
              </a:lnSpc>
              <a:buNone/>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You also created a Streamlit E-Commerce Analytics Dashboard.</a:t>
            </a:r>
            <a:endParaRPr lang="en-US" sz="950" dirty="0"/>
          </a:p>
        </p:txBody>
      </p:sp>
      <p:sp>
        <p:nvSpPr>
          <p:cNvPr id="6" name="Text 4"/>
          <p:cNvSpPr/>
          <p:nvPr/>
        </p:nvSpPr>
        <p:spPr>
          <a:xfrm>
            <a:off x="661475" y="3275707"/>
            <a:ext cx="10868745" cy="2856409"/>
          </a:xfrm>
          <a:prstGeom prst="rect">
            <a:avLst/>
          </a:prstGeom>
          <a:noFill/>
          <a:ln/>
        </p:spPr>
        <p:txBody>
          <a:bodyPr wrap="square" lIns="0" tIns="0" rIns="0" bIns="0" rtlCol="0" anchor="t">
            <a:normAutofit/>
          </a:bodyPr>
          <a:lstStyle/>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Data Cleaning</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Duplicate Removal</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Missing Value Treatment</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Date-Time Conversion</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Outlier Detection</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Data Integration / Merging</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Feature Engineering</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Exploratory Data Analysis</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Business Questions and Analysis</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Data Visualization</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Statistical Analysis</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Central Tendency</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Dispersion</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Correlation</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 Skewness</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Automated EDA using Sweetviz</a:t>
            </a:r>
            <a:endParaRPr lang="en-US" sz="950" dirty="0"/>
          </a:p>
          <a:p>
            <a:pPr marL="193040" indent="-193040" algn="l">
              <a:lnSpc>
                <a:spcPct val="96000"/>
              </a:lnSpc>
              <a:buSzPct val="100000"/>
              <a:buChar char="•"/>
            </a:pPr>
            <a:r>
              <a:rPr lang="en-US" sz="950" kern="0" spc="-10" dirty="0">
                <a:solidFill>
                  <a:srgbClr val="FFFFFF"/>
                </a:solidFill>
                <a:latin typeface="Bricolage Grotesque Light" pitchFamily="34" charset="0"/>
                <a:ea typeface="Bricolage Grotesque Light" pitchFamily="34" charset="-122"/>
                <a:cs typeface="Bricolage Grotesque Light" pitchFamily="34" charset="-120"/>
              </a:rPr>
              <a:t>Streamlit Dashboard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12279"/>
            <a:ext cx="10868745" cy="470595"/>
          </a:xfrm>
          <a:prstGeom prst="rect">
            <a:avLst/>
          </a:prstGeom>
          <a:noFill/>
          <a:ln/>
        </p:spPr>
        <p:txBody>
          <a:bodyPr wrap="none" lIns="0" tIns="0" rIns="0" bIns="0" rtlCol="0" anchor="t"/>
          <a:lstStyle/>
          <a:p>
            <a:pPr marL="0" indent="0" algn="l">
              <a:lnSpc>
                <a:spcPct val="104000"/>
              </a:lnSpc>
              <a:buNone/>
            </a:pPr>
            <a:r>
              <a:rPr lang="en-US" sz="2950" b="1" kern="0" spc="-119" dirty="0">
                <a:solidFill>
                  <a:srgbClr val="FFFFFF"/>
                </a:solidFill>
                <a:latin typeface="Libre Baskerville Bold" pitchFamily="34" charset="0"/>
                <a:ea typeface="Libre Baskerville Bold" pitchFamily="34" charset="-122"/>
                <a:cs typeface="Libre Baskerville Bold" pitchFamily="34" charset="-120"/>
              </a:rPr>
              <a:t>EXCEL ANALYSIS :</a:t>
            </a:r>
            <a:endParaRPr lang="en-US" sz="2950" dirty="0"/>
          </a:p>
        </p:txBody>
      </p:sp>
      <p:sp>
        <p:nvSpPr>
          <p:cNvPr id="3" name="Shape 1"/>
          <p:cNvSpPr/>
          <p:nvPr/>
        </p:nvSpPr>
        <p:spPr>
          <a:xfrm>
            <a:off x="661475" y="1322884"/>
            <a:ext cx="3542914" cy="4922738"/>
          </a:xfrm>
          <a:prstGeom prst="roundRect">
            <a:avLst>
              <a:gd name="adj" fmla="val 638"/>
            </a:avLst>
          </a:prstGeom>
          <a:solidFill>
            <a:srgbClr val="C6A75E"/>
          </a:solidFill>
          <a:ln/>
        </p:spPr>
      </p:sp>
      <p:sp>
        <p:nvSpPr>
          <p:cNvPr id="4" name="Text 2"/>
          <p:cNvSpPr/>
          <p:nvPr/>
        </p:nvSpPr>
        <p:spPr>
          <a:xfrm>
            <a:off x="812085" y="1473498"/>
            <a:ext cx="3241693" cy="564753"/>
          </a:xfrm>
          <a:prstGeom prst="rect">
            <a:avLst/>
          </a:prstGeom>
          <a:noFill/>
          <a:ln/>
        </p:spPr>
        <p:txBody>
          <a:bodyPr wrap="square" lIns="0" tIns="0" rIns="0" bIns="0" rtlCol="0" anchor="t">
            <a:normAutofit/>
          </a:bodyPr>
          <a:lstStyle/>
          <a:p>
            <a:pPr marL="0" indent="0" algn="l">
              <a:lnSpc>
                <a:spcPct val="104000"/>
              </a:lnSpc>
              <a:buNone/>
            </a:pPr>
            <a:r>
              <a:rPr lang="en-US" sz="1750" b="1" kern="0" spc="-71" dirty="0">
                <a:solidFill>
                  <a:srgbClr val="000000"/>
                </a:solidFill>
                <a:latin typeface="Libre Baskerville Bold" pitchFamily="34" charset="0"/>
                <a:ea typeface="Libre Baskerville Bold" pitchFamily="34" charset="-122"/>
                <a:cs typeface="Libre Baskerville Bold" pitchFamily="34" charset="-120"/>
              </a:rPr>
              <a:t>Core Excel Functions &amp; Features You Used</a:t>
            </a:r>
            <a:endParaRPr lang="en-US" sz="1750" dirty="0"/>
          </a:p>
        </p:txBody>
      </p:sp>
      <p:sp>
        <p:nvSpPr>
          <p:cNvPr id="5" name="Text 3"/>
          <p:cNvSpPr/>
          <p:nvPr/>
        </p:nvSpPr>
        <p:spPr>
          <a:xfrm>
            <a:off x="812085" y="2110184"/>
            <a:ext cx="3241693" cy="3984823"/>
          </a:xfrm>
          <a:prstGeom prst="rect">
            <a:avLst/>
          </a:prstGeom>
          <a:noFill/>
          <a:ln/>
        </p:spPr>
        <p:txBody>
          <a:bodyPr wrap="square" lIns="0" tIns="0" rIns="0" bIns="0" rtlCol="0" anchor="t">
            <a:normAutofit/>
          </a:bodyPr>
          <a:lstStyle/>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Pivot Tables → for summarizing data (Sum, Count, Average, % of Total, % Difference from Previous Month).</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Value Field Settings → applied Sum, Count, Average, and Show Values As % of Grand Total.</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Grouping → grouped age ranges, discount percentages, months, and product weights into bins.</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Filters → applied filters (e.g., customer segment = Loyal, review_score IN (1,5), Top 10 by revenue).</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Calculated Columns → created new fields like:</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Fulfillment Days = order_delivered_customer_date – order_purchase_timestamp</a:t>
            </a:r>
            <a:endParaRPr lang="en-US" sz="1150" dirty="0"/>
          </a:p>
          <a:p>
            <a:pPr marL="0" indent="0" algn="l">
              <a:lnSpc>
                <a:spcPct val="105000"/>
              </a:lnSpc>
              <a:spcAft>
                <a:spcPts val="550"/>
              </a:spcAft>
              <a:buNone/>
            </a:pP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Delay Days = order_delivered_customer_date – order_estimated_delivery_date</a:t>
            </a:r>
            <a:endParaRPr lang="en-US" sz="1150" dirty="0"/>
          </a:p>
        </p:txBody>
      </p:sp>
      <p:sp>
        <p:nvSpPr>
          <p:cNvPr id="6" name="Shape 4"/>
          <p:cNvSpPr/>
          <p:nvPr/>
        </p:nvSpPr>
        <p:spPr>
          <a:xfrm>
            <a:off x="4324341" y="1322884"/>
            <a:ext cx="3542914" cy="4922738"/>
          </a:xfrm>
          <a:prstGeom prst="roundRect">
            <a:avLst>
              <a:gd name="adj" fmla="val 638"/>
            </a:avLst>
          </a:prstGeom>
          <a:solidFill>
            <a:srgbClr val="7A5A2E"/>
          </a:solidFill>
          <a:ln/>
        </p:spPr>
      </p:sp>
      <p:sp>
        <p:nvSpPr>
          <p:cNvPr id="7" name="Text 5"/>
          <p:cNvSpPr/>
          <p:nvPr/>
        </p:nvSpPr>
        <p:spPr>
          <a:xfrm>
            <a:off x="4474951" y="1473498"/>
            <a:ext cx="3241693" cy="282377"/>
          </a:xfrm>
          <a:prstGeom prst="rect">
            <a:avLst/>
          </a:prstGeom>
          <a:noFill/>
          <a:ln/>
        </p:spPr>
        <p:txBody>
          <a:bodyPr wrap="none" lIns="0" tIns="0" rIns="0" bIns="0" rtlCol="0" anchor="t"/>
          <a:lstStyle/>
          <a:p>
            <a:pPr marL="0" indent="0" algn="l">
              <a:lnSpc>
                <a:spcPct val="104000"/>
              </a:lnSpc>
              <a:buNone/>
            </a:pPr>
            <a:r>
              <a:rPr lang="en-US" sz="1750" b="1" kern="0" spc="-71" dirty="0">
                <a:solidFill>
                  <a:srgbClr val="FFFFFF"/>
                </a:solidFill>
                <a:latin typeface="Libre Baskerville Bold" pitchFamily="34" charset="0"/>
                <a:ea typeface="Libre Baskerville Bold" pitchFamily="34" charset="-122"/>
                <a:cs typeface="Libre Baskerville Bold" pitchFamily="34" charset="-120"/>
              </a:rPr>
              <a:t>CHARTS</a:t>
            </a:r>
            <a:endParaRPr lang="en-US" sz="1750" dirty="0"/>
          </a:p>
        </p:txBody>
      </p:sp>
      <p:sp>
        <p:nvSpPr>
          <p:cNvPr id="8" name="Text 6"/>
          <p:cNvSpPr/>
          <p:nvPr/>
        </p:nvSpPr>
        <p:spPr>
          <a:xfrm>
            <a:off x="4474951" y="1827808"/>
            <a:ext cx="3241693" cy="3488531"/>
          </a:xfrm>
          <a:prstGeom prst="rect">
            <a:avLst/>
          </a:prstGeom>
          <a:noFill/>
          <a:ln/>
        </p:spPr>
        <p:txBody>
          <a:bodyPr wrap="square" lIns="0" tIns="0" rIns="0" bIns="0" rtlCol="0" anchor="t"/>
          <a:lstStyle/>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Charts → used multiple chart types:</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Clustered Column, Donut, Combo (Column + Line), Scatter Plot, Line Chart with Trendline, KPI Cards, Box Plot.</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Statistical Measures → applied:</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Average (AOV, review scores, fulfillment days)</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Count (customer_id, order_id, review_id)</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Sum (revenue, quantity, shipping cost)</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 Difference From Previous Month (growth trends)</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Outlier Detection (IQR method) → checked anomalies in unit price, discounts, shipping cost, and product weight.</a:t>
            </a:r>
            <a:endParaRPr lang="en-US" sz="1150" dirty="0"/>
          </a:p>
          <a:p>
            <a:pPr marL="0" indent="0" algn="l">
              <a:lnSpc>
                <a:spcPct val="105000"/>
              </a:lnSpc>
              <a:spcAft>
                <a:spcPts val="550"/>
              </a:spcAft>
              <a:buNone/>
            </a:pPr>
            <a:r>
              <a:rPr lang="en-US" sz="1150" kern="0" spc="-12" dirty="0">
                <a:solidFill>
                  <a:srgbClr val="FFFFFF"/>
                </a:solidFill>
                <a:latin typeface="Bricolage Grotesque Light" pitchFamily="34" charset="0"/>
                <a:ea typeface="Bricolage Grotesque Light" pitchFamily="34" charset="-122"/>
                <a:cs typeface="Bricolage Grotesque Light" pitchFamily="34" charset="-120"/>
              </a:rPr>
              <a:t>Central Tendency &amp; Dispersion</a:t>
            </a:r>
            <a:endParaRPr lang="en-US" sz="1150" dirty="0"/>
          </a:p>
        </p:txBody>
      </p:sp>
      <p:sp>
        <p:nvSpPr>
          <p:cNvPr id="9" name="Shape 7"/>
          <p:cNvSpPr/>
          <p:nvPr/>
        </p:nvSpPr>
        <p:spPr>
          <a:xfrm>
            <a:off x="7987207" y="1322884"/>
            <a:ext cx="3543013" cy="4922738"/>
          </a:xfrm>
          <a:prstGeom prst="roundRect">
            <a:avLst>
              <a:gd name="adj" fmla="val 638"/>
            </a:avLst>
          </a:prstGeom>
          <a:solidFill>
            <a:srgbClr val="C6A75E"/>
          </a:solidFill>
          <a:ln/>
        </p:spPr>
      </p:sp>
      <p:sp>
        <p:nvSpPr>
          <p:cNvPr id="10" name="Text 8"/>
          <p:cNvSpPr/>
          <p:nvPr/>
        </p:nvSpPr>
        <p:spPr>
          <a:xfrm>
            <a:off x="8137818" y="1473498"/>
            <a:ext cx="3241792" cy="564753"/>
          </a:xfrm>
          <a:prstGeom prst="rect">
            <a:avLst/>
          </a:prstGeom>
          <a:noFill/>
          <a:ln/>
        </p:spPr>
        <p:txBody>
          <a:bodyPr wrap="square" lIns="0" tIns="0" rIns="0" bIns="0" rtlCol="0" anchor="t">
            <a:normAutofit/>
          </a:bodyPr>
          <a:lstStyle/>
          <a:p>
            <a:pPr marL="0" indent="0" algn="l">
              <a:lnSpc>
                <a:spcPct val="104000"/>
              </a:lnSpc>
              <a:buNone/>
            </a:pPr>
            <a:r>
              <a:rPr lang="en-US" sz="1750" b="1" kern="0" spc="-71" dirty="0">
                <a:solidFill>
                  <a:srgbClr val="000000"/>
                </a:solidFill>
                <a:latin typeface="Libre Baskerville Bold" pitchFamily="34" charset="0"/>
                <a:ea typeface="Libre Baskerville Bold" pitchFamily="34" charset="-122"/>
                <a:cs typeface="Libre Baskerville Bold" pitchFamily="34" charset="-120"/>
              </a:rPr>
              <a:t>Advanced Statistical &amp; Outlier Analysis</a:t>
            </a:r>
            <a:endParaRPr lang="en-US" sz="1750" dirty="0"/>
          </a:p>
        </p:txBody>
      </p:sp>
      <p:sp>
        <p:nvSpPr>
          <p:cNvPr id="11" name="Text 9"/>
          <p:cNvSpPr/>
          <p:nvPr/>
        </p:nvSpPr>
        <p:spPr>
          <a:xfrm>
            <a:off x="8137818" y="2110184"/>
            <a:ext cx="3241792" cy="3769023"/>
          </a:xfrm>
          <a:prstGeom prst="rect">
            <a:avLst/>
          </a:prstGeom>
          <a:noFill/>
          <a:ln/>
        </p:spPr>
        <p:txBody>
          <a:bodyPr wrap="square" lIns="0" tIns="0" rIns="0" bIns="0" rtlCol="0" anchor="t"/>
          <a:lstStyle/>
          <a:p>
            <a:pPr marL="0" indent="0" algn="l">
              <a:lnSpc>
                <a:spcPct val="105000"/>
              </a:lnSpc>
              <a:spcAft>
                <a:spcPts val="550"/>
              </a:spcAft>
              <a:buNone/>
            </a:pP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Applied IQR method to detect anomalies in unit price, discounts, shipping cost, and product weight.</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Explored central tendency (mean, median, mode) for pricing and basket size behavior.</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Examined dispersion &amp; skewness → showed revenue risk from right‑skewed high‑value transactions.</a:t>
            </a:r>
            <a:endParaRPr lang="en-US" sz="1150" dirty="0"/>
          </a:p>
          <a:p>
            <a:pPr marL="0" indent="0" algn="l">
              <a:lnSpc>
                <a:spcPct val="105000"/>
              </a:lnSpc>
              <a:spcAft>
                <a:spcPts val="550"/>
              </a:spcAft>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Assessed gross profit margin variability → highlighted consistency issues across products.</a:t>
            </a:r>
            <a:endParaRPr lang="en-US" sz="1150" dirty="0"/>
          </a:p>
          <a:p>
            <a:pPr marL="0" indent="0" algn="l">
              <a:lnSpc>
                <a:spcPct val="105000"/>
              </a:lnSpc>
              <a:buNone/>
            </a:pPr>
            <a:r>
              <a:rPr lang="en-US" sz="1150" kern="0" spc="-12" dirty="0">
                <a:solidFill>
                  <a:srgbClr val="000000"/>
                </a:solidFill>
                <a:latin typeface="Bricolage Grotesque Light" pitchFamily="34" charset="0"/>
                <a:ea typeface="Bricolage Grotesque Light" pitchFamily="34" charset="-122"/>
                <a:cs typeface="Bricolage Grotesque Light" pitchFamily="34" charset="-120"/>
              </a:rPr>
              <a:t> In short: You demonstrated skills in pivot tables, chart building, segmentation, discount elasticity, fulfillment cycle analysis, anomaly detection, and statistical measures. Each domain connects Excel techniques to business insights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155005"/>
            <a:ext cx="3563055" cy="3495080"/>
          </a:xfrm>
          <a:prstGeom prst="roundRect">
            <a:avLst>
              <a:gd name="adj" fmla="val 559"/>
            </a:avLst>
          </a:prstGeom>
          <a:solidFill>
            <a:srgbClr val="203D2B"/>
          </a:solidFill>
          <a:ln/>
        </p:spPr>
      </p:sp>
      <p:sp>
        <p:nvSpPr>
          <p:cNvPr id="3" name="Text 1"/>
          <p:cNvSpPr/>
          <p:nvPr/>
        </p:nvSpPr>
        <p:spPr>
          <a:xfrm>
            <a:off x="791647" y="1285180"/>
            <a:ext cx="3302711" cy="494705"/>
          </a:xfrm>
          <a:prstGeom prst="rect">
            <a:avLst/>
          </a:prstGeom>
          <a:noFill/>
          <a:ln/>
        </p:spPr>
        <p:txBody>
          <a:bodyPr wrap="square" lIns="0" tIns="0" rIns="0" bIns="0" rtlCol="0" anchor="t">
            <a:normAutofit/>
          </a:bodyPr>
          <a:lstStyle/>
          <a:p>
            <a:pPr marL="0" indent="0" algn="l">
              <a:lnSpc>
                <a:spcPct val="104000"/>
              </a:lnSpc>
              <a:buNone/>
            </a:pPr>
            <a:r>
              <a:rPr lang="en-US" sz="1500" b="1" kern="0" spc="-62" dirty="0">
                <a:solidFill>
                  <a:srgbClr val="000000"/>
                </a:solidFill>
                <a:latin typeface="Noto Color Emoji" pitchFamily="34" charset="0"/>
                <a:ea typeface="Noto Color Emoji" pitchFamily="34" charset="-122"/>
                <a:cs typeface="Noto Color Emoji" pitchFamily="34" charset="-120"/>
              </a:rPr>
              <a:t>📊</a:t>
            </a:r>
            <a:r>
              <a:rPr lang="en-US" sz="1500" b="1" kern="0" spc="-62" dirty="0">
                <a:solidFill>
                  <a:srgbClr val="FFFFFF"/>
                </a:solidFill>
                <a:latin typeface="Libre Baskerville Bold" pitchFamily="34" charset="0"/>
                <a:ea typeface="Libre Baskerville Bold" pitchFamily="34" charset="-122"/>
                <a:cs typeface="Libre Baskerville Bold" pitchFamily="34" charset="-120"/>
              </a:rPr>
              <a:t> Domain 1: Customer Analytics &amp; Segmentation</a:t>
            </a:r>
            <a:endParaRPr lang="en-US" sz="1500" dirty="0"/>
          </a:p>
        </p:txBody>
      </p:sp>
      <p:sp>
        <p:nvSpPr>
          <p:cNvPr id="4" name="Text 2"/>
          <p:cNvSpPr/>
          <p:nvPr/>
        </p:nvSpPr>
        <p:spPr>
          <a:xfrm>
            <a:off x="791647" y="1833662"/>
            <a:ext cx="3302711" cy="2686248"/>
          </a:xfrm>
          <a:prstGeom prst="rect">
            <a:avLst/>
          </a:prstGeom>
          <a:noFill/>
          <a:ln/>
        </p:spPr>
        <p:txBody>
          <a:bodyPr wrap="square" lIns="0" tIns="0" rIns="0" bIns="0" rtlCol="0" anchor="t"/>
          <a:lstStyle/>
          <a:p>
            <a:pPr marL="0" indent="0" algn="l">
              <a:lnSpc>
                <a:spcPct val="99000"/>
              </a:lnSpc>
              <a:spcAft>
                <a:spcPts val="400"/>
              </a:spcAft>
              <a:buNone/>
            </a:pP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 Built pivot tables to analyze revenue and AOV across gender and age groups → found 36–45 female cohort as top revenue generator.</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Used donut chart to show customer distribution across loyalty tiers → “New” customers formed 50.2% of the base.</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 Filtered loyal customers and compared age segments → created combo chart showing count vs. average spend.</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Audited missing ZIP codes → identified incomplete records affecting regional sales tracking.</a:t>
            </a:r>
            <a:endParaRPr lang="en-US" sz="1000" dirty="0"/>
          </a:p>
          <a:p>
            <a:pPr marL="0" indent="0" algn="l">
              <a:lnSpc>
                <a:spcPct val="99000"/>
              </a:lnSpc>
              <a:spcAft>
                <a:spcPts val="400"/>
              </a:spcAft>
              <a:buNone/>
            </a:pPr>
            <a:endParaRPr lang="en-US" sz="1000" dirty="0"/>
          </a:p>
          <a:p>
            <a:pPr marL="0" indent="0" algn="l">
              <a:lnSpc>
                <a:spcPct val="99000"/>
              </a:lnSpc>
              <a:spcAft>
                <a:spcPts val="400"/>
              </a:spcAft>
              <a:buNone/>
            </a:pPr>
            <a:endParaRPr lang="en-US" sz="1000" dirty="0"/>
          </a:p>
        </p:txBody>
      </p:sp>
      <p:sp>
        <p:nvSpPr>
          <p:cNvPr id="5" name="Shape 3"/>
          <p:cNvSpPr/>
          <p:nvPr/>
        </p:nvSpPr>
        <p:spPr>
          <a:xfrm>
            <a:off x="4314221" y="1155005"/>
            <a:ext cx="3563154" cy="3495080"/>
          </a:xfrm>
          <a:prstGeom prst="roundRect">
            <a:avLst>
              <a:gd name="adj" fmla="val 559"/>
            </a:avLst>
          </a:prstGeom>
          <a:solidFill>
            <a:srgbClr val="7A5A2E"/>
          </a:solidFill>
          <a:ln/>
        </p:spPr>
      </p:sp>
      <p:sp>
        <p:nvSpPr>
          <p:cNvPr id="6" name="Text 4"/>
          <p:cNvSpPr/>
          <p:nvPr/>
        </p:nvSpPr>
        <p:spPr>
          <a:xfrm>
            <a:off x="4444393" y="1285180"/>
            <a:ext cx="3302810" cy="494705"/>
          </a:xfrm>
          <a:prstGeom prst="rect">
            <a:avLst/>
          </a:prstGeom>
          <a:noFill/>
          <a:ln/>
        </p:spPr>
        <p:txBody>
          <a:bodyPr wrap="square" lIns="0" tIns="0" rIns="0" bIns="0" rtlCol="0" anchor="t">
            <a:normAutofit/>
          </a:bodyPr>
          <a:lstStyle/>
          <a:p>
            <a:pPr marL="0" indent="0" algn="l">
              <a:lnSpc>
                <a:spcPct val="104000"/>
              </a:lnSpc>
              <a:buNone/>
            </a:pPr>
            <a:r>
              <a:rPr lang="en-US" sz="1500" b="1" kern="0" spc="-62" dirty="0">
                <a:solidFill>
                  <a:srgbClr val="000000"/>
                </a:solidFill>
                <a:latin typeface="Noto Color Emoji" pitchFamily="34" charset="0"/>
                <a:ea typeface="Noto Color Emoji" pitchFamily="34" charset="-122"/>
                <a:cs typeface="Noto Color Emoji" pitchFamily="34" charset="-120"/>
              </a:rPr>
              <a:t>💰</a:t>
            </a:r>
            <a:r>
              <a:rPr lang="en-US" sz="1500" b="1" kern="0" spc="-62" dirty="0">
                <a:solidFill>
                  <a:srgbClr val="FFFFFF"/>
                </a:solidFill>
                <a:latin typeface="Libre Baskerville Bold" pitchFamily="34" charset="0"/>
                <a:ea typeface="Libre Baskerville Bold" pitchFamily="34" charset="-122"/>
                <a:cs typeface="Libre Baskerville Bold" pitchFamily="34" charset="-120"/>
              </a:rPr>
              <a:t> Domain 2: Sales, Pricing &amp; Revenue Optimization</a:t>
            </a:r>
            <a:endParaRPr lang="en-US" sz="1500" dirty="0"/>
          </a:p>
        </p:txBody>
      </p:sp>
      <p:sp>
        <p:nvSpPr>
          <p:cNvPr id="7" name="Text 5"/>
          <p:cNvSpPr/>
          <p:nvPr/>
        </p:nvSpPr>
        <p:spPr>
          <a:xfrm>
            <a:off x="4444393" y="1833662"/>
            <a:ext cx="3302810" cy="1600994"/>
          </a:xfrm>
          <a:prstGeom prst="rect">
            <a:avLst/>
          </a:prstGeom>
          <a:noFill/>
          <a:ln/>
        </p:spPr>
        <p:txBody>
          <a:bodyPr wrap="square" lIns="0" tIns="0" rIns="0" bIns="0" rtlCol="0" anchor="t"/>
          <a:lstStyle/>
          <a:p>
            <a:pPr marL="0" indent="0" algn="l">
              <a:lnSpc>
                <a:spcPct val="99000"/>
              </a:lnSpc>
              <a:spcAft>
                <a:spcPts val="400"/>
              </a:spcAft>
              <a:buNone/>
            </a:pP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Grouped discounts into ranges → discovered 1–20% discount range drives maximum order volume.</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Ranked top 10 brands by revenue → Generic Indian &amp; Global brands lead, followed by Urban Ladder.</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Compared stock availability vs. sales → showed correlation between inventory and performance.</a:t>
            </a:r>
            <a:endParaRPr lang="en-US" sz="1000" dirty="0"/>
          </a:p>
          <a:p>
            <a:pPr marL="0" indent="0" algn="l">
              <a:lnSpc>
                <a:spcPct val="99000"/>
              </a:lnSpc>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Tracked month‑over‑month revenue growth → identified seasonal demand spikes with trendline analysis.</a:t>
            </a:r>
            <a:endParaRPr lang="en-US" sz="1000" dirty="0"/>
          </a:p>
        </p:txBody>
      </p:sp>
      <p:sp>
        <p:nvSpPr>
          <p:cNvPr id="8" name="Shape 6"/>
          <p:cNvSpPr/>
          <p:nvPr/>
        </p:nvSpPr>
        <p:spPr>
          <a:xfrm>
            <a:off x="7967066" y="1155005"/>
            <a:ext cx="3563154" cy="3495080"/>
          </a:xfrm>
          <a:prstGeom prst="roundRect">
            <a:avLst>
              <a:gd name="adj" fmla="val 559"/>
            </a:avLst>
          </a:prstGeom>
          <a:solidFill>
            <a:srgbClr val="C6A75E"/>
          </a:solidFill>
          <a:ln/>
        </p:spPr>
      </p:sp>
      <p:sp>
        <p:nvSpPr>
          <p:cNvPr id="9" name="Text 7"/>
          <p:cNvSpPr/>
          <p:nvPr/>
        </p:nvSpPr>
        <p:spPr>
          <a:xfrm>
            <a:off x="8097238" y="1285180"/>
            <a:ext cx="3302810" cy="494705"/>
          </a:xfrm>
          <a:prstGeom prst="rect">
            <a:avLst/>
          </a:prstGeom>
          <a:noFill/>
          <a:ln/>
        </p:spPr>
        <p:txBody>
          <a:bodyPr wrap="square" lIns="0" tIns="0" rIns="0" bIns="0" rtlCol="0" anchor="t">
            <a:normAutofit/>
          </a:bodyPr>
          <a:lstStyle/>
          <a:p>
            <a:pPr marL="0" indent="0" algn="l">
              <a:lnSpc>
                <a:spcPct val="104000"/>
              </a:lnSpc>
              <a:buNone/>
            </a:pPr>
            <a:r>
              <a:rPr lang="en-US" sz="1500" b="1" kern="0" spc="-62" dirty="0">
                <a:solidFill>
                  <a:srgbClr val="000000"/>
                </a:solidFill>
                <a:latin typeface="Noto Color Emoji" pitchFamily="34" charset="0"/>
                <a:ea typeface="Noto Color Emoji" pitchFamily="34" charset="-122"/>
                <a:cs typeface="Noto Color Emoji" pitchFamily="34" charset="-120"/>
              </a:rPr>
              <a:t>🚚</a:t>
            </a:r>
            <a:r>
              <a:rPr lang="en-US" sz="1500" b="1" kern="0" spc="-62" dirty="0">
                <a:solidFill>
                  <a:srgbClr val="000000"/>
                </a:solidFill>
                <a:latin typeface="Libre Baskerville Bold" pitchFamily="34" charset="0"/>
                <a:ea typeface="Libre Baskerville Bold" pitchFamily="34" charset="-122"/>
                <a:cs typeface="Libre Baskerville Bold" pitchFamily="34" charset="-120"/>
              </a:rPr>
              <a:t> Domain 3: Supply Chain &amp; Logistics</a:t>
            </a:r>
            <a:endParaRPr lang="en-US" sz="1500" dirty="0"/>
          </a:p>
        </p:txBody>
      </p:sp>
      <p:sp>
        <p:nvSpPr>
          <p:cNvPr id="10" name="Text 8"/>
          <p:cNvSpPr/>
          <p:nvPr/>
        </p:nvSpPr>
        <p:spPr>
          <a:xfrm>
            <a:off x="8097238" y="1833662"/>
            <a:ext cx="3302810" cy="1808758"/>
          </a:xfrm>
          <a:prstGeom prst="rect">
            <a:avLst/>
          </a:prstGeom>
          <a:noFill/>
          <a:ln/>
        </p:spPr>
        <p:txBody>
          <a:bodyPr wrap="square" lIns="0" tIns="0" rIns="0" bIns="0" rtlCol="0" anchor="t"/>
          <a:lstStyle/>
          <a:p>
            <a:pPr marL="0" indent="0" algn="l">
              <a:lnSpc>
                <a:spcPct val="99000"/>
              </a:lnSpc>
              <a:spcAft>
                <a:spcPts val="400"/>
              </a:spcAft>
              <a:buNone/>
            </a:pPr>
            <a:endParaRPr lang="en-US" sz="1000" dirty="0"/>
          </a:p>
          <a:p>
            <a:pPr marL="0" indent="0" algn="l">
              <a:lnSpc>
                <a:spcPct val="99000"/>
              </a:lnSpc>
              <a:spcAft>
                <a:spcPts val="400"/>
              </a:spcAft>
              <a:buNone/>
            </a:pPr>
            <a:r>
              <a:rPr lang="en-US" sz="1000" kern="0" spc="-10" dirty="0">
                <a:solidFill>
                  <a:srgbClr val="000000"/>
                </a:solidFill>
                <a:latin typeface="Bricolage Grotesque Light" pitchFamily="34" charset="0"/>
                <a:ea typeface="Bricolage Grotesque Light" pitchFamily="34" charset="-122"/>
                <a:cs typeface="Bricolage Grotesque Light" pitchFamily="34" charset="-120"/>
              </a:rPr>
              <a:t>Calculated fulfillment cycle time → average delivery took 72.27 days.</a:t>
            </a:r>
            <a:endParaRPr lang="en-US" sz="1000" dirty="0"/>
          </a:p>
          <a:p>
            <a:pPr marL="0" indent="0" algn="l">
              <a:lnSpc>
                <a:spcPct val="99000"/>
              </a:lnSpc>
              <a:spcAft>
                <a:spcPts val="400"/>
              </a:spcAft>
              <a:buNone/>
            </a:pPr>
            <a:r>
              <a:rPr lang="en-US" sz="1000" kern="0" spc="-10" dirty="0">
                <a:solidFill>
                  <a:srgbClr val="000000"/>
                </a:solidFill>
                <a:latin typeface="Bricolage Grotesque Light" pitchFamily="34" charset="0"/>
                <a:ea typeface="Bricolage Grotesque Light" pitchFamily="34" charset="-122"/>
                <a:cs typeface="Bricolage Grotesque Light" pitchFamily="34" charset="-120"/>
              </a:rPr>
              <a:t>Analyzed freight charges vs. weight → found very low correlation (flat‑rate shipping).</a:t>
            </a:r>
            <a:endParaRPr lang="en-US" sz="1000" dirty="0"/>
          </a:p>
          <a:p>
            <a:pPr marL="0" indent="0" algn="l">
              <a:lnSpc>
                <a:spcPct val="99000"/>
              </a:lnSpc>
              <a:spcAft>
                <a:spcPts val="400"/>
              </a:spcAft>
              <a:buNone/>
            </a:pPr>
            <a:r>
              <a:rPr lang="en-US" sz="1000" kern="0" spc="-10" dirty="0">
                <a:solidFill>
                  <a:srgbClr val="000000"/>
                </a:solidFill>
                <a:latin typeface="Bricolage Grotesque Light" pitchFamily="34" charset="0"/>
                <a:ea typeface="Bricolage Grotesque Light" pitchFamily="34" charset="-122"/>
                <a:cs typeface="Bricolage Grotesque Light" pitchFamily="34" charset="-120"/>
              </a:rPr>
              <a:t>Measured state‑wise delivery delays → Dadra &amp; Nagar Haveli, Nagaland, Chandigarh had longest delays.</a:t>
            </a:r>
            <a:endParaRPr lang="en-US" sz="1000" dirty="0"/>
          </a:p>
          <a:p>
            <a:pPr marL="0" indent="0" algn="l">
              <a:lnSpc>
                <a:spcPct val="99000"/>
              </a:lnSpc>
              <a:spcAft>
                <a:spcPts val="400"/>
              </a:spcAft>
              <a:buNone/>
            </a:pPr>
            <a:r>
              <a:rPr lang="en-US" sz="1000" kern="0" spc="-10" dirty="0">
                <a:solidFill>
                  <a:srgbClr val="000000"/>
                </a:solidFill>
                <a:latin typeface="Bricolage Grotesque Light" pitchFamily="34" charset="0"/>
                <a:ea typeface="Bricolage Grotesque Light" pitchFamily="34" charset="-122"/>
                <a:cs typeface="Bricolage Grotesque Light" pitchFamily="34" charset="-120"/>
              </a:rPr>
              <a:t>Checked order cancellation/unfulfilled rate → visualized with pie chart.</a:t>
            </a:r>
            <a:endParaRPr lang="en-US" sz="1000" dirty="0"/>
          </a:p>
        </p:txBody>
      </p:sp>
      <p:sp>
        <p:nvSpPr>
          <p:cNvPr id="11" name="Shape 9"/>
          <p:cNvSpPr/>
          <p:nvPr/>
        </p:nvSpPr>
        <p:spPr>
          <a:xfrm>
            <a:off x="661475" y="4739779"/>
            <a:ext cx="10868745" cy="1549698"/>
          </a:xfrm>
          <a:prstGeom prst="roundRect">
            <a:avLst>
              <a:gd name="adj" fmla="val 1261"/>
            </a:avLst>
          </a:prstGeom>
          <a:solidFill>
            <a:srgbClr val="6F6F6B"/>
          </a:solidFill>
          <a:ln/>
        </p:spPr>
      </p:sp>
      <p:sp>
        <p:nvSpPr>
          <p:cNvPr id="12" name="Text 10"/>
          <p:cNvSpPr/>
          <p:nvPr/>
        </p:nvSpPr>
        <p:spPr>
          <a:xfrm>
            <a:off x="791647" y="4869954"/>
            <a:ext cx="10608402" cy="250527"/>
          </a:xfrm>
          <a:prstGeom prst="rect">
            <a:avLst/>
          </a:prstGeom>
          <a:noFill/>
          <a:ln/>
        </p:spPr>
        <p:txBody>
          <a:bodyPr wrap="none" lIns="0" tIns="0" rIns="0" bIns="0" rtlCol="0" anchor="t"/>
          <a:lstStyle/>
          <a:p>
            <a:pPr marL="0" indent="0" algn="l">
              <a:lnSpc>
                <a:spcPct val="104000"/>
              </a:lnSpc>
              <a:buNone/>
            </a:pPr>
            <a:r>
              <a:rPr lang="en-US" sz="1500" b="1" kern="0" spc="-62" dirty="0">
                <a:solidFill>
                  <a:srgbClr val="000000"/>
                </a:solidFill>
                <a:latin typeface="Noto Color Emoji" pitchFamily="34" charset="0"/>
                <a:ea typeface="Noto Color Emoji" pitchFamily="34" charset="-122"/>
                <a:cs typeface="Noto Color Emoji" pitchFamily="34" charset="-120"/>
              </a:rPr>
              <a:t>⭐</a:t>
            </a:r>
            <a:r>
              <a:rPr lang="en-US" sz="1500" b="1" kern="0" spc="-62" dirty="0">
                <a:solidFill>
                  <a:srgbClr val="FFFFFF"/>
                </a:solidFill>
                <a:latin typeface="Libre Baskerville Bold" pitchFamily="34" charset="0"/>
                <a:ea typeface="Libre Baskerville Bold" pitchFamily="34" charset="-122"/>
                <a:cs typeface="Libre Baskerville Bold" pitchFamily="34" charset="-120"/>
              </a:rPr>
              <a:t> Domain 4: Customer Satisfaction &amp; Reviews</a:t>
            </a:r>
            <a:endParaRPr lang="en-US" sz="1500" dirty="0"/>
          </a:p>
        </p:txBody>
      </p:sp>
      <p:sp>
        <p:nvSpPr>
          <p:cNvPr id="13" name="Text 11"/>
          <p:cNvSpPr/>
          <p:nvPr/>
        </p:nvSpPr>
        <p:spPr>
          <a:xfrm>
            <a:off x="791647" y="5174258"/>
            <a:ext cx="10608402" cy="985044"/>
          </a:xfrm>
          <a:prstGeom prst="rect">
            <a:avLst/>
          </a:prstGeom>
          <a:noFill/>
          <a:ln/>
        </p:spPr>
        <p:txBody>
          <a:bodyPr wrap="square" lIns="0" tIns="0" rIns="0" bIns="0" rtlCol="0" anchor="t"/>
          <a:lstStyle/>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ü Linked delivery delays to low ratings → delays strongly drive 1‑ and 2‑star reviews.</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ü Compared payment methods vs. satisfaction → UPI (4.10) and Credit Card (4.09) scored highest.</a:t>
            </a:r>
            <a:endParaRPr lang="en-US" sz="1000" dirty="0"/>
          </a:p>
          <a:p>
            <a:pPr marL="0" indent="0" algn="l">
              <a:lnSpc>
                <a:spcPct val="99000"/>
              </a:lnSpc>
              <a:spcAft>
                <a:spcPts val="400"/>
              </a:spcAft>
              <a:buNone/>
            </a:pPr>
            <a:r>
              <a:rPr lang="en-US" sz="1000" kern="0" spc="-10" dirty="0">
                <a:solidFill>
                  <a:srgbClr val="FFFFFF"/>
                </a:solidFill>
                <a:latin typeface="Bricolage Grotesque Light" pitchFamily="34" charset="0"/>
                <a:ea typeface="Bricolage Grotesque Light" pitchFamily="34" charset="-122"/>
                <a:cs typeface="Bricolage Grotesque Light" pitchFamily="34" charset="-120"/>
              </a:rPr>
              <a:t>ü Studied 1‑star vs. 5‑star reviews → severe delays correlated with poor ratings.</a:t>
            </a:r>
            <a:endParaRPr lang="en-US" sz="1000" dirty="0"/>
          </a:p>
          <a:p>
            <a:pPr marL="0" indent="0" algn="l">
              <a:lnSpc>
                <a:spcPct val="99000"/>
              </a:lnSpc>
              <a:spcAft>
                <a:spcPts val="400"/>
              </a:spcAft>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2FC6AB-B95E-0BD3-C4C9-EC0DC04490B9}"/>
              </a:ext>
            </a:extLst>
          </p:cNvPr>
          <p:cNvPicPr>
            <a:picLocks noChangeAspect="1"/>
          </p:cNvPicPr>
          <p:nvPr/>
        </p:nvPicPr>
        <p:blipFill>
          <a:blip r:embed="rId3"/>
          <a:stretch>
            <a:fillRect/>
          </a:stretch>
        </p:blipFill>
        <p:spPr>
          <a:xfrm>
            <a:off x="0" y="259977"/>
            <a:ext cx="12192000" cy="63201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633909"/>
            <a:ext cx="10868745" cy="383977"/>
          </a:xfrm>
          <a:prstGeom prst="rect">
            <a:avLst/>
          </a:prstGeom>
          <a:noFill/>
          <a:ln/>
        </p:spPr>
        <p:txBody>
          <a:bodyPr wrap="none" lIns="0" tIns="0" rIns="0" bIns="0" rtlCol="0" anchor="t"/>
          <a:lstStyle/>
          <a:p>
            <a:pPr marL="0" indent="0" algn="l">
              <a:lnSpc>
                <a:spcPct val="104000"/>
              </a:lnSpc>
              <a:buNone/>
            </a:pPr>
            <a:r>
              <a:rPr lang="en-US" sz="2400" b="1" kern="0" spc="-97" dirty="0">
                <a:solidFill>
                  <a:srgbClr val="FFFFFF"/>
                </a:solidFill>
                <a:latin typeface="Libre Baskerville Bold" pitchFamily="34" charset="0"/>
                <a:ea typeface="Libre Baskerville Bold" pitchFamily="34" charset="-122"/>
                <a:cs typeface="Libre Baskerville Bold" pitchFamily="34" charset="-120"/>
              </a:rPr>
              <a:t>SQL ANALYSIS</a:t>
            </a:r>
            <a:endParaRPr lang="en-US" sz="2400" dirty="0"/>
          </a:p>
        </p:txBody>
      </p:sp>
      <p:sp>
        <p:nvSpPr>
          <p:cNvPr id="3" name="Shape 1"/>
          <p:cNvSpPr/>
          <p:nvPr/>
        </p:nvSpPr>
        <p:spPr>
          <a:xfrm>
            <a:off x="573073" y="1137642"/>
            <a:ext cx="3599566" cy="5086350"/>
          </a:xfrm>
          <a:prstGeom prst="roundRect">
            <a:avLst>
              <a:gd name="adj" fmla="val 512"/>
            </a:avLst>
          </a:prstGeom>
          <a:solidFill>
            <a:srgbClr val="FCEC99"/>
          </a:solidFill>
          <a:ln/>
        </p:spPr>
      </p:sp>
      <p:pic>
        <p:nvPicPr>
          <p:cNvPr id="4" name="Image 0" descr="preencoded.png"/>
          <p:cNvPicPr>
            <a:picLocks noChangeAspect="1"/>
          </p:cNvPicPr>
          <p:nvPr/>
        </p:nvPicPr>
        <p:blipFill>
          <a:blip r:embed="rId3"/>
          <a:stretch>
            <a:fillRect/>
          </a:stretch>
        </p:blipFill>
        <p:spPr>
          <a:xfrm>
            <a:off x="695903" y="1227435"/>
            <a:ext cx="2179980" cy="1226245"/>
          </a:xfrm>
          <a:prstGeom prst="rect">
            <a:avLst/>
          </a:prstGeom>
        </p:spPr>
      </p:pic>
      <p:sp>
        <p:nvSpPr>
          <p:cNvPr id="5" name="Text 2"/>
          <p:cNvSpPr/>
          <p:nvPr/>
        </p:nvSpPr>
        <p:spPr>
          <a:xfrm>
            <a:off x="695903" y="2543473"/>
            <a:ext cx="3353907" cy="191988"/>
          </a:xfrm>
          <a:prstGeom prst="rect">
            <a:avLst/>
          </a:prstGeom>
          <a:noFill/>
          <a:ln/>
        </p:spPr>
        <p:txBody>
          <a:bodyPr wrap="none" lIns="0" tIns="0" rIns="0" bIns="0" rtlCol="0" anchor="t"/>
          <a:lstStyle/>
          <a:p>
            <a:pPr marL="0" indent="0" algn="l">
              <a:lnSpc>
                <a:spcPct val="104000"/>
              </a:lnSpc>
              <a:buNone/>
            </a:pPr>
            <a:r>
              <a:rPr lang="en-US" sz="1200" b="1" kern="0" spc="-48" dirty="0">
                <a:solidFill>
                  <a:srgbClr val="203D2B"/>
                </a:solidFill>
                <a:latin typeface="Libre Baskerville Bold" pitchFamily="34" charset="0"/>
                <a:ea typeface="Libre Baskerville Bold" pitchFamily="34" charset="-122"/>
                <a:cs typeface="Libre Baskerville Bold" pitchFamily="34" charset="-120"/>
              </a:rPr>
              <a:t>SQL Concepts Used:</a:t>
            </a:r>
            <a:endParaRPr lang="en-US" sz="1200" dirty="0"/>
          </a:p>
        </p:txBody>
      </p:sp>
      <p:sp>
        <p:nvSpPr>
          <p:cNvPr id="6" name="Text 3"/>
          <p:cNvSpPr/>
          <p:nvPr/>
        </p:nvSpPr>
        <p:spPr>
          <a:xfrm>
            <a:off x="695903" y="2815233"/>
            <a:ext cx="3353907" cy="2918817"/>
          </a:xfrm>
          <a:prstGeom prst="rect">
            <a:avLst/>
          </a:prstGeom>
          <a:noFill/>
          <a:ln/>
        </p:spPr>
        <p:txBody>
          <a:bodyPr wrap="square" lIns="0" tIns="0" rIns="0" bIns="0" rtlCol="0" anchor="t"/>
          <a:lstStyle/>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SELECT – Retrieve data.</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WHERE – Filter records.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JOIN – Combine tables.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GROUP BY – Group records.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ORDER BY – Sort results.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LIMIT – Restrict number of rows.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SUM() – Total revenue.</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AVG() – Average values.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COUNT() – Count records.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ROUND() – Round decimal values.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CASE – Create categories.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Subquery – Query inside another query</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Stored Procedure – Reusable SQL program.</a:t>
            </a:r>
            <a:endParaRPr lang="en-US" sz="950" dirty="0"/>
          </a:p>
        </p:txBody>
      </p:sp>
      <p:sp>
        <p:nvSpPr>
          <p:cNvPr id="7" name="Shape 4"/>
          <p:cNvSpPr/>
          <p:nvPr/>
        </p:nvSpPr>
        <p:spPr>
          <a:xfrm>
            <a:off x="4301819" y="1137642"/>
            <a:ext cx="3599566" cy="5086350"/>
          </a:xfrm>
          <a:prstGeom prst="roundRect">
            <a:avLst>
              <a:gd name="adj" fmla="val 512"/>
            </a:avLst>
          </a:prstGeom>
          <a:solidFill>
            <a:srgbClr val="FCEC99"/>
          </a:solidFill>
          <a:ln/>
        </p:spPr>
      </p:sp>
      <p:pic>
        <p:nvPicPr>
          <p:cNvPr id="8" name="Image 1" descr="preencoded.png"/>
          <p:cNvPicPr>
            <a:picLocks noChangeAspect="1"/>
          </p:cNvPicPr>
          <p:nvPr/>
        </p:nvPicPr>
        <p:blipFill>
          <a:blip r:embed="rId4"/>
          <a:stretch>
            <a:fillRect/>
          </a:stretch>
        </p:blipFill>
        <p:spPr>
          <a:xfrm>
            <a:off x="4424649" y="1227435"/>
            <a:ext cx="2179980" cy="1453356"/>
          </a:xfrm>
          <a:prstGeom prst="rect">
            <a:avLst/>
          </a:prstGeom>
        </p:spPr>
      </p:pic>
      <p:sp>
        <p:nvSpPr>
          <p:cNvPr id="9" name="Text 5"/>
          <p:cNvSpPr/>
          <p:nvPr/>
        </p:nvSpPr>
        <p:spPr>
          <a:xfrm>
            <a:off x="4424649" y="2770584"/>
            <a:ext cx="3963491" cy="177304"/>
          </a:xfrm>
          <a:prstGeom prst="rect">
            <a:avLst/>
          </a:prstGeom>
          <a:noFill/>
          <a:ln/>
        </p:spPr>
        <p:txBody>
          <a:bodyPr wrap="none" lIns="0" tIns="0" rIns="0" bIns="0" rtlCol="0" anchor="t"/>
          <a:lstStyle/>
          <a:p>
            <a:pPr marL="0" indent="0" algn="l">
              <a:lnSpc>
                <a:spcPct val="96000"/>
              </a:lnSpc>
              <a:buNone/>
            </a:pPr>
            <a:r>
              <a:rPr lang="en-US" sz="1200" b="1" kern="0" spc="-10" dirty="0">
                <a:solidFill>
                  <a:srgbClr val="000000"/>
                </a:solidFill>
                <a:latin typeface="Bricolage Grotesque Bold" pitchFamily="34" charset="0"/>
                <a:ea typeface="Bricolage Grotesque Bold" pitchFamily="34" charset="-122"/>
                <a:cs typeface="Bricolage Grotesque Bold" pitchFamily="34" charset="-120"/>
              </a:rPr>
              <a:t>Main Business Analysis</a:t>
            </a:r>
            <a:endParaRPr lang="en-US" sz="1200" dirty="0"/>
          </a:p>
        </p:txBody>
      </p:sp>
      <p:sp>
        <p:nvSpPr>
          <p:cNvPr id="10" name="Text 6"/>
          <p:cNvSpPr/>
          <p:nvPr/>
        </p:nvSpPr>
        <p:spPr>
          <a:xfrm>
            <a:off x="4424649" y="3019723"/>
            <a:ext cx="3353907" cy="3132435"/>
          </a:xfrm>
          <a:prstGeom prst="rect">
            <a:avLst/>
          </a:prstGeom>
          <a:noFill/>
          <a:ln/>
        </p:spPr>
        <p:txBody>
          <a:bodyPr wrap="square" lIns="0" tIns="0" rIns="0" bIns="0" rtlCol="0" anchor="t"/>
          <a:lstStyle/>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Revenue and average order value by gender and age group.</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Customer distribution by loyalty segment.</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Loyal customer spending by age group.</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Missing ZIP code audit.</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Discount tier and revenue analysis.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Top 10 brands by revenue.</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Stock availability and sales.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Monthly revenue trends.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Average delivery fulfillment time.</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 Shipping cost versus product weight.</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Delivery delays by state.</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Order status distribution.</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Delivery delays and low ratings.</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Customer satisfaction by payment type.</a:t>
            </a:r>
            <a:endParaRPr lang="en-US" sz="950" dirty="0"/>
          </a:p>
          <a:p>
            <a:pPr marL="0" indent="0" algn="l">
              <a:lnSpc>
                <a:spcPct val="96000"/>
              </a:lnSpc>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Comparison of 1-star and 5-star reviews.</a:t>
            </a:r>
            <a:endParaRPr lang="en-US" sz="950" dirty="0"/>
          </a:p>
        </p:txBody>
      </p:sp>
      <p:sp>
        <p:nvSpPr>
          <p:cNvPr id="11" name="Shape 7"/>
          <p:cNvSpPr/>
          <p:nvPr/>
        </p:nvSpPr>
        <p:spPr>
          <a:xfrm>
            <a:off x="8030565" y="1137642"/>
            <a:ext cx="3599566" cy="5086350"/>
          </a:xfrm>
          <a:prstGeom prst="roundRect">
            <a:avLst>
              <a:gd name="adj" fmla="val 512"/>
            </a:avLst>
          </a:prstGeom>
          <a:solidFill>
            <a:srgbClr val="FCEC99"/>
          </a:solidFill>
          <a:ln/>
        </p:spPr>
      </p:sp>
      <p:pic>
        <p:nvPicPr>
          <p:cNvPr id="12" name="Image 2" descr="preencoded.png"/>
          <p:cNvPicPr>
            <a:picLocks noChangeAspect="1"/>
          </p:cNvPicPr>
          <p:nvPr/>
        </p:nvPicPr>
        <p:blipFill>
          <a:blip r:embed="rId5"/>
          <a:stretch>
            <a:fillRect/>
          </a:stretch>
        </p:blipFill>
        <p:spPr>
          <a:xfrm>
            <a:off x="8153394" y="1227435"/>
            <a:ext cx="2179980" cy="1644452"/>
          </a:xfrm>
          <a:prstGeom prst="rect">
            <a:avLst/>
          </a:prstGeom>
        </p:spPr>
      </p:pic>
      <p:sp>
        <p:nvSpPr>
          <p:cNvPr id="13" name="Text 8"/>
          <p:cNvSpPr/>
          <p:nvPr/>
        </p:nvSpPr>
        <p:spPr>
          <a:xfrm>
            <a:off x="8153394" y="2961680"/>
            <a:ext cx="3353907" cy="191988"/>
          </a:xfrm>
          <a:prstGeom prst="rect">
            <a:avLst/>
          </a:prstGeom>
          <a:noFill/>
          <a:ln/>
        </p:spPr>
        <p:txBody>
          <a:bodyPr wrap="none" lIns="0" tIns="0" rIns="0" bIns="0" rtlCol="0" anchor="t"/>
          <a:lstStyle/>
          <a:p>
            <a:pPr marL="0" indent="0" algn="l">
              <a:lnSpc>
                <a:spcPct val="104000"/>
              </a:lnSpc>
              <a:buNone/>
            </a:pPr>
            <a:r>
              <a:rPr lang="en-US" sz="1200" b="1" kern="0" spc="-48" dirty="0">
                <a:solidFill>
                  <a:srgbClr val="203D2B"/>
                </a:solidFill>
                <a:latin typeface="Libre Baskerville Bold" pitchFamily="34" charset="0"/>
                <a:ea typeface="Libre Baskerville Bold" pitchFamily="34" charset="-122"/>
                <a:cs typeface="Libre Baskerville Bold" pitchFamily="34" charset="-120"/>
              </a:rPr>
              <a:t>Advanced SQL</a:t>
            </a:r>
            <a:endParaRPr lang="en-US" sz="1200" dirty="0"/>
          </a:p>
        </p:txBody>
      </p:sp>
      <p:sp>
        <p:nvSpPr>
          <p:cNvPr id="14" name="Text 9"/>
          <p:cNvSpPr/>
          <p:nvPr/>
        </p:nvSpPr>
        <p:spPr>
          <a:xfrm>
            <a:off x="8153394" y="3233440"/>
            <a:ext cx="3353907" cy="1351657"/>
          </a:xfrm>
          <a:prstGeom prst="rect">
            <a:avLst/>
          </a:prstGeom>
          <a:noFill/>
          <a:ln/>
        </p:spPr>
        <p:txBody>
          <a:bodyPr wrap="square" lIns="0" tIns="0" rIns="0" bIns="0" rtlCol="0" anchor="t"/>
          <a:lstStyle/>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Stored Procedure: Monthly revenue by year.</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Correlation: Discount vs. selling price; delivery delay vs. review score.</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Central Tendency: Mean, median, mode.</a:t>
            </a:r>
            <a:endParaRPr lang="en-US" sz="950" dirty="0"/>
          </a:p>
          <a:p>
            <a:pPr marL="0" indent="0" algn="l">
              <a:lnSpc>
                <a:spcPct val="96000"/>
              </a:lnSpc>
              <a:spcAft>
                <a:spcPts val="550"/>
              </a:spcAft>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Dispersion: Range, variance, standard deviation</a:t>
            </a:r>
            <a:endParaRPr lang="en-US" sz="950" dirty="0"/>
          </a:p>
          <a:p>
            <a:pPr marL="0" indent="0" algn="l">
              <a:lnSpc>
                <a:spcPct val="96000"/>
              </a:lnSpc>
              <a:spcAft>
                <a:spcPts val="550"/>
              </a:spcAft>
              <a:buNone/>
            </a:pPr>
            <a:endParaRPr lang="en-US" sz="950" dirty="0"/>
          </a:p>
        </p:txBody>
      </p:sp>
      <p:sp>
        <p:nvSpPr>
          <p:cNvPr id="15" name="Text 10"/>
          <p:cNvSpPr/>
          <p:nvPr/>
        </p:nvSpPr>
        <p:spPr>
          <a:xfrm>
            <a:off x="8153394" y="4656931"/>
            <a:ext cx="3963491" cy="177304"/>
          </a:xfrm>
          <a:prstGeom prst="rect">
            <a:avLst/>
          </a:prstGeom>
          <a:noFill/>
          <a:ln/>
        </p:spPr>
        <p:txBody>
          <a:bodyPr wrap="none" lIns="0" tIns="0" rIns="0" bIns="0" rtlCol="0" anchor="t"/>
          <a:lstStyle/>
          <a:p>
            <a:pPr marL="0" indent="0" algn="l">
              <a:lnSpc>
                <a:spcPct val="96000"/>
              </a:lnSpc>
              <a:buNone/>
            </a:pPr>
            <a:r>
              <a:rPr lang="en-US" sz="1200" kern="0" spc="-10" dirty="0">
                <a:solidFill>
                  <a:srgbClr val="000000"/>
                </a:solidFill>
                <a:latin typeface="Bricolage Grotesque Light" pitchFamily="34" charset="0"/>
                <a:ea typeface="Bricolage Grotesque Light" pitchFamily="34" charset="-122"/>
                <a:cs typeface="Bricolage Grotesque Light" pitchFamily="34" charset="-120"/>
              </a:rPr>
              <a:t>Important Formulas</a:t>
            </a:r>
            <a:endParaRPr lang="en-US" sz="1200" dirty="0"/>
          </a:p>
        </p:txBody>
      </p:sp>
      <p:sp>
        <p:nvSpPr>
          <p:cNvPr id="16" name="Text 11"/>
          <p:cNvSpPr/>
          <p:nvPr/>
        </p:nvSpPr>
        <p:spPr>
          <a:xfrm>
            <a:off x="8153394" y="4906070"/>
            <a:ext cx="3963491" cy="141784"/>
          </a:xfrm>
          <a:prstGeom prst="rect">
            <a:avLst/>
          </a:prstGeom>
          <a:noFill/>
          <a:ln/>
        </p:spPr>
        <p:txBody>
          <a:bodyPr wrap="none" lIns="0" tIns="0" rIns="0" bIns="0" rtlCol="0" anchor="t"/>
          <a:lstStyle/>
          <a:p>
            <a:pPr marL="0" indent="0" algn="l">
              <a:lnSpc>
                <a:spcPct val="96000"/>
              </a:lnSpc>
              <a:buNone/>
            </a:pPr>
            <a:r>
              <a:rPr lang="en-US" sz="950" kern="0" spc="-10" dirty="0">
                <a:solidFill>
                  <a:srgbClr val="000000"/>
                </a:solidFill>
                <a:latin typeface="Bricolage Grotesque Light" pitchFamily="34" charset="0"/>
                <a:ea typeface="Bricolage Grotesque Light" pitchFamily="34" charset="-122"/>
                <a:cs typeface="Bricolage Grotesque Light" pitchFamily="34" charset="-120"/>
              </a:rPr>
              <a:t>Revenue = Quantity × Selling Price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835852" y="695920"/>
            <a:ext cx="3180774" cy="1789212"/>
          </a:xfrm>
          <a:prstGeom prst="rect">
            <a:avLst/>
          </a:prstGeom>
        </p:spPr>
      </p:pic>
      <p:pic>
        <p:nvPicPr>
          <p:cNvPr id="3" name="Image 1" descr="preencoded.png"/>
          <p:cNvPicPr>
            <a:picLocks noChangeAspect="1"/>
          </p:cNvPicPr>
          <p:nvPr/>
        </p:nvPicPr>
        <p:blipFill>
          <a:blip r:embed="rId4"/>
          <a:stretch>
            <a:fillRect/>
          </a:stretch>
        </p:blipFill>
        <p:spPr>
          <a:xfrm>
            <a:off x="7566233" y="839490"/>
            <a:ext cx="2949204" cy="1745952"/>
          </a:xfrm>
          <a:prstGeom prst="rect">
            <a:avLst/>
          </a:prstGeom>
        </p:spPr>
      </p:pic>
      <p:sp>
        <p:nvSpPr>
          <p:cNvPr id="4" name="Shape 0"/>
          <p:cNvSpPr/>
          <p:nvPr/>
        </p:nvSpPr>
        <p:spPr>
          <a:xfrm>
            <a:off x="661475" y="2973189"/>
            <a:ext cx="5357778" cy="3217466"/>
          </a:xfrm>
          <a:prstGeom prst="roundRect">
            <a:avLst>
              <a:gd name="adj" fmla="val 793"/>
            </a:avLst>
          </a:prstGeom>
          <a:solidFill>
            <a:srgbClr val="C6A75E"/>
          </a:solidFill>
          <a:ln/>
        </p:spPr>
      </p:sp>
      <p:sp>
        <p:nvSpPr>
          <p:cNvPr id="5" name="Text 1"/>
          <p:cNvSpPr/>
          <p:nvPr/>
        </p:nvSpPr>
        <p:spPr>
          <a:xfrm>
            <a:off x="831532" y="3143250"/>
            <a:ext cx="5017664" cy="282773"/>
          </a:xfrm>
          <a:prstGeom prst="rect">
            <a:avLst/>
          </a:prstGeom>
          <a:noFill/>
          <a:ln/>
        </p:spPr>
        <p:txBody>
          <a:bodyPr wrap="none" lIns="0" tIns="0" rIns="0" bIns="0" rtlCol="0" anchor="t"/>
          <a:lstStyle/>
          <a:p>
            <a:pPr marL="0" indent="0" algn="l">
              <a:lnSpc>
                <a:spcPct val="111000"/>
              </a:lnSpc>
              <a:buNone/>
            </a:pPr>
            <a:r>
              <a:rPr lang="en-US" sz="1650" b="1" kern="0" spc="-13" dirty="0">
                <a:solidFill>
                  <a:srgbClr val="000000"/>
                </a:solidFill>
                <a:latin typeface="Bricolage Grotesque Bold" pitchFamily="34" charset="0"/>
                <a:ea typeface="Bricolage Grotesque Bold" pitchFamily="34" charset="-122"/>
                <a:cs typeface="Bricolage Grotesque Bold" pitchFamily="34" charset="-120"/>
              </a:rPr>
              <a:t>Key SQL </a:t>
            </a:r>
            <a:endParaRPr lang="en-US" sz="1650" dirty="0"/>
          </a:p>
        </p:txBody>
      </p:sp>
      <p:sp>
        <p:nvSpPr>
          <p:cNvPr id="6" name="Text 2"/>
          <p:cNvSpPr/>
          <p:nvPr/>
        </p:nvSpPr>
        <p:spPr>
          <a:xfrm>
            <a:off x="831532" y="3517801"/>
            <a:ext cx="5017664" cy="2184797"/>
          </a:xfrm>
          <a:prstGeom prst="rect">
            <a:avLst/>
          </a:prstGeom>
          <a:noFill/>
          <a:ln/>
        </p:spPr>
        <p:txBody>
          <a:bodyPr wrap="square" lIns="0" tIns="0" rIns="0" bIns="0" rtlCol="0" anchor="t">
            <a:normAutofit/>
          </a:bodyPr>
          <a:lstStyle/>
          <a:p>
            <a:pPr marL="264160" indent="-264160" algn="l">
              <a:lnSpc>
                <a:spcPct val="111000"/>
              </a:lnSpc>
              <a:buSzPct val="100000"/>
              <a:buFont typeface="+mj-lt"/>
              <a:buAutoNum type="arabicPeriod"/>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Multiple table JOINs. </a:t>
            </a:r>
            <a:endParaRPr lang="en-US" sz="1300" dirty="0"/>
          </a:p>
          <a:p>
            <a:pPr marL="264160" indent="-264160" algn="l">
              <a:lnSpc>
                <a:spcPct val="111000"/>
              </a:lnSpc>
              <a:buSzPct val="100000"/>
              <a:buFont typeface="+mj-lt"/>
              <a:buAutoNum type="arabicPeriod" startAt="2"/>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Aggregate functions.</a:t>
            </a:r>
            <a:endParaRPr lang="en-US" sz="1300" dirty="0"/>
          </a:p>
          <a:p>
            <a:pPr marL="264160" indent="-264160" algn="l">
              <a:lnSpc>
                <a:spcPct val="111000"/>
              </a:lnSpc>
              <a:buSzPct val="100000"/>
              <a:buFont typeface="+mj-lt"/>
              <a:buAutoNum type="arabicPeriod" startAt="3"/>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 Filtering with WHERE. </a:t>
            </a:r>
            <a:endParaRPr lang="en-US" sz="1300" dirty="0"/>
          </a:p>
          <a:p>
            <a:pPr marL="264160" indent="-264160" algn="l">
              <a:lnSpc>
                <a:spcPct val="111000"/>
              </a:lnSpc>
              <a:buSzPct val="100000"/>
              <a:buFont typeface="+mj-lt"/>
              <a:buAutoNum type="arabicPeriod" startAt="4"/>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Grouping with GROUP BY. </a:t>
            </a:r>
            <a:endParaRPr lang="en-US" sz="1300" dirty="0"/>
          </a:p>
          <a:p>
            <a:pPr marL="264160" indent="-264160" algn="l">
              <a:lnSpc>
                <a:spcPct val="111000"/>
              </a:lnSpc>
              <a:buSzPct val="100000"/>
              <a:buFont typeface="+mj-lt"/>
              <a:buAutoNum type="arabicPeriod" startAt="5"/>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Sorting with ORDER BY. </a:t>
            </a:r>
            <a:endParaRPr lang="en-US" sz="1300" dirty="0"/>
          </a:p>
          <a:p>
            <a:pPr marL="264160" indent="-264160" algn="l">
              <a:lnSpc>
                <a:spcPct val="111000"/>
              </a:lnSpc>
              <a:buSzPct val="100000"/>
              <a:buFont typeface="+mj-lt"/>
              <a:buAutoNum type="arabicPeriod" startAt="6"/>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Subqueries for percentages. </a:t>
            </a:r>
            <a:endParaRPr lang="en-US" sz="1300" dirty="0"/>
          </a:p>
          <a:p>
            <a:pPr marL="264160" indent="-264160" algn="l">
              <a:lnSpc>
                <a:spcPct val="111000"/>
              </a:lnSpc>
              <a:buSzPct val="100000"/>
              <a:buFont typeface="+mj-lt"/>
              <a:buAutoNum type="arabicPeriod" startAt="7"/>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 CTEs for organized analysis. </a:t>
            </a:r>
            <a:endParaRPr lang="en-US" sz="1300" dirty="0"/>
          </a:p>
          <a:p>
            <a:pPr marL="264160" indent="-264160" algn="l">
              <a:lnSpc>
                <a:spcPct val="111000"/>
              </a:lnSpc>
              <a:buSzPct val="100000"/>
              <a:buFont typeface="+mj-lt"/>
              <a:buAutoNum type="arabicPeriod" startAt="8"/>
            </a:pPr>
            <a:r>
              <a:rPr lang="en-US" sz="1300" kern="0" spc="-13" dirty="0">
                <a:solidFill>
                  <a:srgbClr val="000000"/>
                </a:solidFill>
                <a:latin typeface="Bricolage Grotesque Light" pitchFamily="34" charset="0"/>
                <a:ea typeface="Bricolage Grotesque Light" pitchFamily="34" charset="-122"/>
                <a:cs typeface="Bricolage Grotesque Light" pitchFamily="34" charset="-120"/>
              </a:rPr>
              <a:t>Stored procedures for reusable reports.</a:t>
            </a:r>
            <a:endParaRPr lang="en-US" sz="1300" dirty="0"/>
          </a:p>
        </p:txBody>
      </p:sp>
      <p:sp>
        <p:nvSpPr>
          <p:cNvPr id="7" name="Shape 3"/>
          <p:cNvSpPr/>
          <p:nvPr/>
        </p:nvSpPr>
        <p:spPr>
          <a:xfrm>
            <a:off x="6172343" y="2973189"/>
            <a:ext cx="5357877" cy="3217466"/>
          </a:xfrm>
          <a:prstGeom prst="roundRect">
            <a:avLst>
              <a:gd name="adj" fmla="val 793"/>
            </a:avLst>
          </a:prstGeom>
          <a:solidFill>
            <a:srgbClr val="7A5A2E"/>
          </a:solidFill>
          <a:ln/>
        </p:spPr>
      </p:sp>
      <p:sp>
        <p:nvSpPr>
          <p:cNvPr id="8" name="Text 4"/>
          <p:cNvSpPr/>
          <p:nvPr/>
        </p:nvSpPr>
        <p:spPr>
          <a:xfrm>
            <a:off x="6342400" y="3143250"/>
            <a:ext cx="5017764" cy="318988"/>
          </a:xfrm>
          <a:prstGeom prst="rect">
            <a:avLst/>
          </a:prstGeom>
          <a:noFill/>
          <a:ln/>
        </p:spPr>
        <p:txBody>
          <a:bodyPr wrap="none" lIns="0" tIns="0" rIns="0" bIns="0" rtlCol="0" anchor="t"/>
          <a:lstStyle/>
          <a:p>
            <a:pPr marL="0" indent="0" algn="l">
              <a:lnSpc>
                <a:spcPct val="104000"/>
              </a:lnSpc>
              <a:buNone/>
            </a:pPr>
            <a:r>
              <a:rPr lang="en-US" sz="2000" b="1" kern="0" spc="-80" dirty="0">
                <a:solidFill>
                  <a:srgbClr val="FFFFFF"/>
                </a:solidFill>
                <a:latin typeface="Libre Baskerville Bold" pitchFamily="34" charset="0"/>
                <a:ea typeface="Libre Baskerville Bold" pitchFamily="34" charset="-122"/>
                <a:cs typeface="Libre Baskerville Bold" pitchFamily="34" charset="-120"/>
              </a:rPr>
              <a:t>. Project Outcome</a:t>
            </a:r>
            <a:endParaRPr lang="en-US" sz="2000" dirty="0"/>
          </a:p>
        </p:txBody>
      </p:sp>
      <p:sp>
        <p:nvSpPr>
          <p:cNvPr id="9" name="Text 5"/>
          <p:cNvSpPr/>
          <p:nvPr/>
        </p:nvSpPr>
        <p:spPr>
          <a:xfrm>
            <a:off x="6342400" y="3554016"/>
            <a:ext cx="5017764" cy="2134195"/>
          </a:xfrm>
          <a:prstGeom prst="rect">
            <a:avLst/>
          </a:prstGeom>
          <a:noFill/>
          <a:ln/>
        </p:spPr>
        <p:txBody>
          <a:bodyPr wrap="square" lIns="0" tIns="0" rIns="0" bIns="0" rtlCol="0" anchor="t"/>
          <a:lstStyle/>
          <a:p>
            <a:pPr marL="0" indent="0" algn="l">
              <a:lnSpc>
                <a:spcPct val="111000"/>
              </a:lnSpc>
              <a:spcAft>
                <a:spcPts val="700"/>
              </a:spcAft>
              <a:buNone/>
            </a:pPr>
            <a:r>
              <a:rPr lang="en-US" sz="1300" kern="0" spc="-13" dirty="0">
                <a:solidFill>
                  <a:srgbClr val="FFFFFF"/>
                </a:solidFill>
                <a:latin typeface="Bricolage Grotesque Light" pitchFamily="34" charset="0"/>
                <a:ea typeface="Bricolage Grotesque Light" pitchFamily="34" charset="-122"/>
                <a:cs typeface="Bricolage Grotesque Light" pitchFamily="34" charset="-120"/>
              </a:rPr>
              <a:t> Analyzed customer purchasing patterns.</a:t>
            </a:r>
            <a:endParaRPr lang="en-US" sz="1300" dirty="0"/>
          </a:p>
          <a:p>
            <a:pPr marL="0" indent="0" algn="l">
              <a:lnSpc>
                <a:spcPct val="111000"/>
              </a:lnSpc>
              <a:spcAft>
                <a:spcPts val="700"/>
              </a:spcAft>
              <a:buNone/>
            </a:pPr>
            <a:r>
              <a:rPr lang="en-US" sz="1300" kern="0" spc="-13" dirty="0">
                <a:solidFill>
                  <a:srgbClr val="FFFFFF"/>
                </a:solidFill>
                <a:latin typeface="Bricolage Grotesque Light" pitchFamily="34" charset="0"/>
                <a:ea typeface="Bricolage Grotesque Light" pitchFamily="34" charset="-122"/>
                <a:cs typeface="Bricolage Grotesque Light" pitchFamily="34" charset="-120"/>
              </a:rPr>
              <a:t> Compared product and brand revenue.</a:t>
            </a:r>
            <a:endParaRPr lang="en-US" sz="1300" dirty="0"/>
          </a:p>
          <a:p>
            <a:pPr marL="0" indent="0" algn="l">
              <a:lnSpc>
                <a:spcPct val="111000"/>
              </a:lnSpc>
              <a:spcAft>
                <a:spcPts val="700"/>
              </a:spcAft>
              <a:buNone/>
            </a:pPr>
            <a:r>
              <a:rPr lang="en-US" sz="1300" kern="0" spc="-13" dirty="0">
                <a:solidFill>
                  <a:srgbClr val="FFFFFF"/>
                </a:solidFill>
                <a:latin typeface="Bricolage Grotesque Light" pitchFamily="34" charset="0"/>
                <a:ea typeface="Bricolage Grotesque Light" pitchFamily="34" charset="-122"/>
                <a:cs typeface="Bricolage Grotesque Light" pitchFamily="34" charset="-120"/>
              </a:rPr>
              <a:t> Studied discount performance.</a:t>
            </a:r>
            <a:endParaRPr lang="en-US" sz="1300" dirty="0"/>
          </a:p>
          <a:p>
            <a:pPr marL="0" indent="0" algn="l">
              <a:lnSpc>
                <a:spcPct val="111000"/>
              </a:lnSpc>
              <a:spcAft>
                <a:spcPts val="700"/>
              </a:spcAft>
              <a:buNone/>
            </a:pPr>
            <a:r>
              <a:rPr lang="en-US" sz="1300" kern="0" spc="-13" dirty="0">
                <a:solidFill>
                  <a:srgbClr val="FFFFFF"/>
                </a:solidFill>
                <a:latin typeface="Bricolage Grotesque Light" pitchFamily="34" charset="0"/>
                <a:ea typeface="Bricolage Grotesque Light" pitchFamily="34" charset="-122"/>
                <a:cs typeface="Bricolage Grotesque Light" pitchFamily="34" charset="-120"/>
              </a:rPr>
              <a:t> Investigated delivery delays.</a:t>
            </a:r>
            <a:endParaRPr lang="en-US" sz="1300" dirty="0"/>
          </a:p>
          <a:p>
            <a:pPr marL="0" indent="0" algn="l">
              <a:lnSpc>
                <a:spcPct val="111000"/>
              </a:lnSpc>
              <a:spcAft>
                <a:spcPts val="700"/>
              </a:spcAft>
              <a:buNone/>
            </a:pPr>
            <a:r>
              <a:rPr lang="en-US" sz="1300" kern="0" spc="-13" dirty="0">
                <a:solidFill>
                  <a:srgbClr val="FFFFFF"/>
                </a:solidFill>
                <a:latin typeface="Bricolage Grotesque Light" pitchFamily="34" charset="0"/>
                <a:ea typeface="Bricolage Grotesque Light" pitchFamily="34" charset="-122"/>
                <a:cs typeface="Bricolage Grotesque Light" pitchFamily="34" charset="-120"/>
              </a:rPr>
              <a:t> Examined customer review scores.</a:t>
            </a:r>
            <a:endParaRPr lang="en-US" sz="1300" dirty="0"/>
          </a:p>
          <a:p>
            <a:pPr marL="0" indent="0" algn="l">
              <a:lnSpc>
                <a:spcPct val="111000"/>
              </a:lnSpc>
              <a:spcAft>
                <a:spcPts val="700"/>
              </a:spcAft>
              <a:buNone/>
            </a:pPr>
            <a:r>
              <a:rPr lang="en-US" sz="1300" kern="0" spc="-13" dirty="0">
                <a:solidFill>
                  <a:srgbClr val="FFFFFF"/>
                </a:solidFill>
                <a:latin typeface="Bricolage Grotesque Light" pitchFamily="34" charset="0"/>
                <a:ea typeface="Bricolage Grotesque Light" pitchFamily="34" charset="-122"/>
                <a:cs typeface="Bricolage Grotesque Light" pitchFamily="34" charset="-120"/>
              </a:rPr>
              <a:t>Analyzed shipping costs.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93837"/>
            <a:ext cx="6296860" cy="472480"/>
          </a:xfrm>
          <a:prstGeom prst="rect">
            <a:avLst/>
          </a:prstGeom>
          <a:noFill/>
          <a:ln/>
        </p:spPr>
        <p:txBody>
          <a:bodyPr wrap="none" lIns="0" tIns="0" rIns="0" bIns="0" rtlCol="0" anchor="t"/>
          <a:lstStyle/>
          <a:p>
            <a:pPr marL="0" indent="0" algn="l">
              <a:lnSpc>
                <a:spcPct val="104000"/>
              </a:lnSpc>
              <a:buNone/>
            </a:pPr>
            <a:r>
              <a:rPr lang="en-US" sz="2950" b="1" kern="0" spc="-119" dirty="0">
                <a:solidFill>
                  <a:srgbClr val="FFFFFF"/>
                </a:solidFill>
                <a:latin typeface="Libre Baskerville Bold" pitchFamily="34" charset="0"/>
                <a:ea typeface="Libre Baskerville Bold" pitchFamily="34" charset="-122"/>
                <a:cs typeface="Libre Baskerville Bold" pitchFamily="34" charset="-120"/>
              </a:rPr>
              <a:t>Power BI :</a:t>
            </a:r>
            <a:endParaRPr lang="en-US" sz="2950" dirty="0"/>
          </a:p>
        </p:txBody>
      </p:sp>
      <p:sp>
        <p:nvSpPr>
          <p:cNvPr id="4" name="Text 1"/>
          <p:cNvSpPr/>
          <p:nvPr/>
        </p:nvSpPr>
        <p:spPr>
          <a:xfrm>
            <a:off x="661475" y="1347688"/>
            <a:ext cx="6296860" cy="4816376"/>
          </a:xfrm>
          <a:prstGeom prst="rect">
            <a:avLst/>
          </a:prstGeom>
          <a:noFill/>
          <a:ln/>
        </p:spPr>
        <p:txBody>
          <a:bodyPr wrap="square" lIns="0" tIns="0" rIns="0" bIns="0" rtlCol="0" anchor="t">
            <a:normAutofit/>
          </a:bodyPr>
          <a:lstStyle/>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Created different charts for individual business questions, including column charts, bar charts, donut charts, maps, pie charts, and area charts.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Executive &amp; Customer Demographics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A dashboard page focused on customer demographic and executive-level analysis.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Product &amp; Commercial Elasticity</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Visual analysis related to product performance and commercial or discount patterns.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Supply Chain &amp; Logistics Operations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Charts and map visuals for logistics and supply chain analysis.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Customer Satisfaction &amp; Ratings Impact</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Visual analysis of customer satisfaction and review ratings.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Key Influencers: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Includes a Key Influencers visual and decomposition tree for exploring factors and breakdowns.</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Dashboard</a:t>
            </a:r>
            <a:endParaRPr lang="en-US" sz="1150" dirty="0"/>
          </a:p>
          <a:p>
            <a:pPr marL="0" indent="0" algn="l">
              <a:lnSpc>
                <a:spcPct val="105000"/>
              </a:lnSpc>
              <a:spcAft>
                <a:spcPts val="1050"/>
              </a:spcAft>
              <a:buNone/>
            </a:pPr>
            <a:r>
              <a:rPr lang="en-US" sz="1150" kern="0" spc="-12" dirty="0">
                <a:solidFill>
                  <a:srgbClr val="F4F1E8"/>
                </a:solidFill>
                <a:latin typeface="Bricolage Grotesque Light" pitchFamily="34" charset="0"/>
                <a:ea typeface="Bricolage Grotesque Light" pitchFamily="34" charset="-122"/>
                <a:cs typeface="Bricolage Grotesque Light" pitchFamily="34" charset="-120"/>
              </a:rPr>
              <a:t>A dedicated dashboard page with action buttons and report navigation elements.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694360"/>
            <a:ext cx="5203794" cy="3298982"/>
          </a:xfrm>
          <a:prstGeom prst="rect">
            <a:avLst/>
          </a:prstGeom>
        </p:spPr>
      </p:pic>
      <p:sp>
        <p:nvSpPr>
          <p:cNvPr id="3" name="Text 0"/>
          <p:cNvSpPr/>
          <p:nvPr/>
        </p:nvSpPr>
        <p:spPr>
          <a:xfrm>
            <a:off x="6332776" y="1428055"/>
            <a:ext cx="5203794" cy="590649"/>
          </a:xfrm>
          <a:prstGeom prst="rect">
            <a:avLst/>
          </a:prstGeom>
          <a:noFill/>
          <a:ln/>
        </p:spPr>
        <p:txBody>
          <a:bodyPr wrap="none" lIns="0" tIns="0" rIns="0" bIns="0" rtlCol="0" anchor="t"/>
          <a:lstStyle/>
          <a:p>
            <a:pPr marL="0" indent="0" algn="l">
              <a:lnSpc>
                <a:spcPct val="104000"/>
              </a:lnSpc>
              <a:buNone/>
            </a:pPr>
            <a:r>
              <a:rPr lang="en-US" sz="3700" b="1" kern="0" spc="-149" dirty="0">
                <a:solidFill>
                  <a:srgbClr val="FFFFFF"/>
                </a:solidFill>
                <a:latin typeface="Libre Baskerville Bold" pitchFamily="34" charset="0"/>
                <a:ea typeface="Libre Baskerville Bold" pitchFamily="34" charset="-122"/>
                <a:cs typeface="Libre Baskerville Bold" pitchFamily="34" charset="-120"/>
              </a:rPr>
              <a:t>Final:</a:t>
            </a:r>
            <a:endParaRPr lang="en-US" sz="3700" dirty="0"/>
          </a:p>
        </p:txBody>
      </p:sp>
      <p:sp>
        <p:nvSpPr>
          <p:cNvPr id="4" name="Text 1"/>
          <p:cNvSpPr/>
          <p:nvPr/>
        </p:nvSpPr>
        <p:spPr>
          <a:xfrm>
            <a:off x="6332776" y="2642394"/>
            <a:ext cx="5203794" cy="2910483"/>
          </a:xfrm>
          <a:prstGeom prst="rect">
            <a:avLst/>
          </a:prstGeom>
          <a:noFill/>
          <a:ln/>
        </p:spPr>
        <p:txBody>
          <a:bodyPr wrap="square" lIns="0" tIns="0" rIns="0" bIns="0" rtlCol="0" anchor="t">
            <a:normAutofit/>
          </a:bodyPr>
          <a:lstStyle/>
          <a:p>
            <a:pPr marL="294640" indent="-294640" algn="l">
              <a:lnSpc>
                <a:spcPct val="117000"/>
              </a:lnSpc>
              <a:buSzPct val="100000"/>
              <a:buFont typeface="+mj-lt"/>
              <a:buAutoNum type="arabicPeriod"/>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Data: Retail sales, customer, product, and logistics information.</a:t>
            </a:r>
            <a:endParaRPr lang="en-US" sz="1450" dirty="0"/>
          </a:p>
          <a:p>
            <a:pPr marL="294640" indent="-294640" algn="l">
              <a:lnSpc>
                <a:spcPct val="117000"/>
              </a:lnSpc>
              <a:buSzPct val="100000"/>
              <a:buFont typeface="+mj-lt"/>
              <a:buAutoNum type="arabicPeriod" startAt="2"/>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Visuals: Bar, column, pie, donut, area, map, and other visuals.</a:t>
            </a:r>
            <a:endParaRPr lang="en-US" sz="1450" dirty="0"/>
          </a:p>
          <a:p>
            <a:pPr marL="294640" indent="-294640" algn="l">
              <a:lnSpc>
                <a:spcPct val="117000"/>
              </a:lnSpc>
              <a:buSzPct val="100000"/>
              <a:buFont typeface="+mj-lt"/>
              <a:buAutoNum type="arabicPeriod" startAt="3"/>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 Dashboards: Executive, product, logistics, and customer satisfaction pages.</a:t>
            </a:r>
            <a:endParaRPr lang="en-US" sz="1450" dirty="0"/>
          </a:p>
          <a:p>
            <a:pPr marL="294640" indent="-294640" algn="l">
              <a:lnSpc>
                <a:spcPct val="117000"/>
              </a:lnSpc>
              <a:buSzPct val="100000"/>
              <a:buFont typeface="+mj-lt"/>
              <a:buAutoNum type="arabicPeriod" startAt="4"/>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Advanced Analysis: Key Influencers and decomposition tree.</a:t>
            </a:r>
            <a:endParaRPr lang="en-US" sz="1450" dirty="0"/>
          </a:p>
          <a:p>
            <a:pPr marL="294640" indent="-294640" algn="l">
              <a:lnSpc>
                <a:spcPct val="117000"/>
              </a:lnSpc>
              <a:buSzPct val="100000"/>
              <a:buFont typeface="+mj-lt"/>
              <a:buAutoNum type="arabicPeriod" startAt="5"/>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Outcome: Presenting retail data in visual reports to understand business performance.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2F462-36A4-0B4C-56AD-65FA7B9E7672}"/>
              </a:ext>
            </a:extLst>
          </p:cNvPr>
          <p:cNvPicPr>
            <a:picLocks noChangeAspect="1"/>
          </p:cNvPicPr>
          <p:nvPr/>
        </p:nvPicPr>
        <p:blipFill>
          <a:blip r:embed="rId3"/>
          <a:stretch>
            <a:fillRect/>
          </a:stretch>
        </p:blipFill>
        <p:spPr>
          <a:xfrm>
            <a:off x="235712" y="89646"/>
            <a:ext cx="11720576" cy="653527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184473"/>
            <a:ext cx="10868745" cy="590649"/>
          </a:xfrm>
          <a:prstGeom prst="rect">
            <a:avLst/>
          </a:prstGeom>
          <a:noFill/>
          <a:ln/>
        </p:spPr>
        <p:txBody>
          <a:bodyPr wrap="none" lIns="0" tIns="0" rIns="0" bIns="0" rtlCol="0" anchor="t"/>
          <a:lstStyle/>
          <a:p>
            <a:pPr marL="0" indent="0" algn="l">
              <a:lnSpc>
                <a:spcPct val="104000"/>
              </a:lnSpc>
              <a:buNone/>
            </a:pPr>
            <a:r>
              <a:rPr lang="en-US" sz="3700" b="1" kern="0" spc="-149" dirty="0">
                <a:solidFill>
                  <a:srgbClr val="FFFFFF"/>
                </a:solidFill>
                <a:latin typeface="Libre Baskerville Bold" pitchFamily="34" charset="0"/>
                <a:ea typeface="Libre Baskerville Bold" pitchFamily="34" charset="-122"/>
                <a:cs typeface="Libre Baskerville Bold" pitchFamily="34" charset="-120"/>
              </a:rPr>
              <a:t>Hypothesis:</a:t>
            </a:r>
            <a:endParaRPr lang="en-US" sz="37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5209" y="2153146"/>
            <a:ext cx="472468" cy="472480"/>
          </a:xfrm>
          <a:prstGeom prst="rect">
            <a:avLst/>
          </a:prstGeom>
        </p:spPr>
      </p:pic>
      <p:sp>
        <p:nvSpPr>
          <p:cNvPr id="4" name="Text 1"/>
          <p:cNvSpPr/>
          <p:nvPr/>
        </p:nvSpPr>
        <p:spPr>
          <a:xfrm>
            <a:off x="661475" y="2861866"/>
            <a:ext cx="2539936" cy="354409"/>
          </a:xfrm>
          <a:prstGeom prst="rect">
            <a:avLst/>
          </a:prstGeom>
          <a:noFill/>
          <a:ln/>
        </p:spPr>
        <p:txBody>
          <a:bodyPr wrap="none" lIns="0" tIns="0" rIns="0" bIns="0" rtlCol="0" anchor="t"/>
          <a:lstStyle/>
          <a:p>
            <a:pPr marL="0" indent="0" algn="ctr">
              <a:lnSpc>
                <a:spcPct val="104000"/>
              </a:lnSpc>
              <a:buNone/>
            </a:pPr>
            <a:r>
              <a:rPr lang="en-US" sz="2200" b="1" kern="0" spc="-89" dirty="0">
                <a:solidFill>
                  <a:srgbClr val="FFFFFF"/>
                </a:solidFill>
                <a:latin typeface="Libre Baskerville Bold" pitchFamily="34" charset="0"/>
                <a:ea typeface="Libre Baskerville Bold" pitchFamily="34" charset="-122"/>
                <a:cs typeface="Libre Baskerville Bold" pitchFamily="34" charset="-120"/>
              </a:rPr>
              <a:t>Main tests used:</a:t>
            </a:r>
            <a:endParaRPr lang="en-US" sz="2200" dirty="0"/>
          </a:p>
        </p:txBody>
      </p:sp>
      <p:sp>
        <p:nvSpPr>
          <p:cNvPr id="5" name="Text 2"/>
          <p:cNvSpPr/>
          <p:nvPr/>
        </p:nvSpPr>
        <p:spPr>
          <a:xfrm>
            <a:off x="661475" y="3329682"/>
            <a:ext cx="2539936" cy="2192536"/>
          </a:xfrm>
          <a:prstGeom prst="rect">
            <a:avLst/>
          </a:prstGeom>
          <a:noFill/>
          <a:ln/>
        </p:spPr>
        <p:txBody>
          <a:bodyPr wrap="square" lIns="0" tIns="0" rIns="0" bIns="0" rtlCol="0" anchor="t"/>
          <a:lstStyle/>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T-test → compare means</a:t>
            </a:r>
            <a:endParaRPr lang="en-US" sz="1450" dirty="0"/>
          </a:p>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Z-test → compare large-sample means/proportions</a:t>
            </a:r>
            <a:endParaRPr lang="en-US" sz="1450" dirty="0"/>
          </a:p>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Chi-square test → check relationship between categorical variables</a:t>
            </a:r>
            <a:endParaRPr lang="en-US" sz="14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71380" y="2153146"/>
            <a:ext cx="472468" cy="472480"/>
          </a:xfrm>
          <a:prstGeom prst="rect">
            <a:avLst/>
          </a:prstGeom>
        </p:spPr>
      </p:pic>
      <p:sp>
        <p:nvSpPr>
          <p:cNvPr id="7" name="Text 3"/>
          <p:cNvSpPr/>
          <p:nvPr/>
        </p:nvSpPr>
        <p:spPr>
          <a:xfrm>
            <a:off x="3437645" y="2861866"/>
            <a:ext cx="2540036" cy="708819"/>
          </a:xfrm>
          <a:prstGeom prst="rect">
            <a:avLst/>
          </a:prstGeom>
          <a:noFill/>
          <a:ln/>
        </p:spPr>
        <p:txBody>
          <a:bodyPr wrap="square" lIns="0" tIns="0" rIns="0" bIns="0" rtlCol="0" anchor="t">
            <a:normAutofit/>
          </a:bodyPr>
          <a:lstStyle/>
          <a:p>
            <a:pPr marL="0" indent="0" algn="ctr">
              <a:lnSpc>
                <a:spcPct val="104000"/>
              </a:lnSpc>
              <a:buNone/>
            </a:pPr>
            <a:r>
              <a:rPr lang="en-US" sz="2200" b="1" kern="0" spc="-89" dirty="0">
                <a:solidFill>
                  <a:srgbClr val="FFFFFF"/>
                </a:solidFill>
                <a:latin typeface="Libre Baskerville Bold" pitchFamily="34" charset="0"/>
                <a:ea typeface="Libre Baskerville Bold" pitchFamily="34" charset="-122"/>
                <a:cs typeface="Libre Baskerville Bold" pitchFamily="34" charset="-120"/>
              </a:rPr>
              <a:t>Important Finding</a:t>
            </a:r>
            <a:endParaRPr lang="en-US" sz="2200" dirty="0"/>
          </a:p>
        </p:txBody>
      </p:sp>
      <p:sp>
        <p:nvSpPr>
          <p:cNvPr id="8" name="Text 4"/>
          <p:cNvSpPr/>
          <p:nvPr/>
        </p:nvSpPr>
        <p:spPr>
          <a:xfrm>
            <a:off x="3437645" y="3684091"/>
            <a:ext cx="2540036" cy="1965722"/>
          </a:xfrm>
          <a:prstGeom prst="rect">
            <a:avLst/>
          </a:prstGeom>
          <a:noFill/>
          <a:ln/>
        </p:spPr>
        <p:txBody>
          <a:bodyPr wrap="square" lIns="0" tIns="0" rIns="0" bIns="0" rtlCol="0" anchor="t">
            <a:normAutofit/>
          </a:bodyPr>
          <a:lstStyle/>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“Discount tiers had a statistically significant relationship with purchase quantity, with p-value &lt; 0.001, so I rejected the null hypothesis.”</a:t>
            </a:r>
            <a:endParaRPr lang="en-US" sz="14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47649" y="2153146"/>
            <a:ext cx="472468" cy="472480"/>
          </a:xfrm>
          <a:prstGeom prst="rect">
            <a:avLst/>
          </a:prstGeom>
        </p:spPr>
      </p:pic>
      <p:sp>
        <p:nvSpPr>
          <p:cNvPr id="10" name="Text 5"/>
          <p:cNvSpPr/>
          <p:nvPr/>
        </p:nvSpPr>
        <p:spPr>
          <a:xfrm>
            <a:off x="6213915" y="2861866"/>
            <a:ext cx="2540036" cy="354409"/>
          </a:xfrm>
          <a:prstGeom prst="rect">
            <a:avLst/>
          </a:prstGeom>
          <a:noFill/>
          <a:ln/>
        </p:spPr>
        <p:txBody>
          <a:bodyPr wrap="none" lIns="0" tIns="0" rIns="0" bIns="0" rtlCol="0" anchor="t"/>
          <a:lstStyle/>
          <a:p>
            <a:pPr marL="0" indent="0" algn="ctr">
              <a:lnSpc>
                <a:spcPct val="104000"/>
              </a:lnSpc>
              <a:buNone/>
            </a:pPr>
            <a:r>
              <a:rPr lang="en-US" sz="2200" b="1" kern="0" spc="-89" dirty="0">
                <a:solidFill>
                  <a:srgbClr val="FFFFFF"/>
                </a:solidFill>
                <a:latin typeface="Libre Baskerville Bold" pitchFamily="34" charset="0"/>
                <a:ea typeface="Libre Baskerville Bold" pitchFamily="34" charset="-122"/>
                <a:cs typeface="Libre Baskerville Bold" pitchFamily="34" charset="-120"/>
              </a:rPr>
              <a:t>Another Finding</a:t>
            </a:r>
            <a:endParaRPr lang="en-US" sz="2200" dirty="0"/>
          </a:p>
        </p:txBody>
      </p:sp>
      <p:sp>
        <p:nvSpPr>
          <p:cNvPr id="11" name="Text 6"/>
          <p:cNvSpPr/>
          <p:nvPr/>
        </p:nvSpPr>
        <p:spPr>
          <a:xfrm>
            <a:off x="6213915" y="3329682"/>
            <a:ext cx="2540036" cy="1436489"/>
          </a:xfrm>
          <a:prstGeom prst="rect">
            <a:avLst/>
          </a:prstGeom>
          <a:noFill/>
          <a:ln/>
        </p:spPr>
        <p:txBody>
          <a:bodyPr wrap="square" lIns="0" tIns="0" rIns="0" bIns="0" rtlCol="0" anchor="t">
            <a:normAutofit/>
          </a:bodyPr>
          <a:lstStyle/>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“Payment channel and review score showed a statistically significant relationship, with p-value = 0.000783.”</a:t>
            </a:r>
            <a:endParaRPr lang="en-US" sz="14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23919" y="2153146"/>
            <a:ext cx="472468" cy="472480"/>
          </a:xfrm>
          <a:prstGeom prst="rect">
            <a:avLst/>
          </a:prstGeom>
        </p:spPr>
      </p:pic>
      <p:sp>
        <p:nvSpPr>
          <p:cNvPr id="13" name="Text 7"/>
          <p:cNvSpPr/>
          <p:nvPr/>
        </p:nvSpPr>
        <p:spPr>
          <a:xfrm>
            <a:off x="8990184" y="2861866"/>
            <a:ext cx="2540036" cy="354409"/>
          </a:xfrm>
          <a:prstGeom prst="rect">
            <a:avLst/>
          </a:prstGeom>
          <a:noFill/>
          <a:ln/>
        </p:spPr>
        <p:txBody>
          <a:bodyPr wrap="none" lIns="0" tIns="0" rIns="0" bIns="0" rtlCol="0" anchor="t"/>
          <a:lstStyle/>
          <a:p>
            <a:pPr marL="0" indent="0" algn="ctr">
              <a:lnSpc>
                <a:spcPct val="104000"/>
              </a:lnSpc>
              <a:buNone/>
            </a:pPr>
            <a:r>
              <a:rPr lang="en-US" sz="2200" b="1" kern="0" spc="-89" dirty="0">
                <a:solidFill>
                  <a:srgbClr val="FFFFFF"/>
                </a:solidFill>
                <a:latin typeface="Libre Baskerville Bold" pitchFamily="34" charset="0"/>
                <a:ea typeface="Libre Baskerville Bold" pitchFamily="34" charset="-122"/>
                <a:cs typeface="Libre Baskerville Bold" pitchFamily="34" charset="-120"/>
              </a:rPr>
              <a:t>Regression / ML</a:t>
            </a:r>
            <a:endParaRPr lang="en-US" sz="2200" dirty="0"/>
          </a:p>
        </p:txBody>
      </p:sp>
      <p:sp>
        <p:nvSpPr>
          <p:cNvPr id="14" name="Text 8"/>
          <p:cNvSpPr/>
          <p:nvPr/>
        </p:nvSpPr>
        <p:spPr>
          <a:xfrm>
            <a:off x="8990184" y="3329682"/>
            <a:ext cx="2540036" cy="2343745"/>
          </a:xfrm>
          <a:prstGeom prst="rect">
            <a:avLst/>
          </a:prstGeom>
          <a:noFill/>
          <a:ln/>
        </p:spPr>
        <p:txBody>
          <a:bodyPr wrap="square" lIns="0" tIns="0" rIns="0" bIns="0" rtlCol="0" anchor="t">
            <a:normAutofit/>
          </a:bodyPr>
          <a:lstStyle/>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“I predicted net revenue using product weight, shipping cost, quantity, customer segment, age group, discount tier, brand group and payment type.”</a:t>
            </a:r>
            <a:endParaRPr lang="en-US" sz="1450" dirty="0"/>
          </a:p>
          <a:p>
            <a:pPr marL="0" indent="0" algn="ctr">
              <a:lnSpc>
                <a:spcPct val="117000"/>
              </a:lnSpc>
              <a:spcAft>
                <a:spcPts val="850"/>
              </a:spcAft>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Models used:</a:t>
            </a:r>
            <a:endParaRPr lang="en-US" sz="1450" dirty="0"/>
          </a:p>
          <a:p>
            <a:pPr marL="0" indent="0" algn="ctr">
              <a:lnSpc>
                <a:spcPct val="117000"/>
              </a:lnSpc>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Linear Regression</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25350" y="1888629"/>
            <a:ext cx="5476043" cy="2471142"/>
          </a:xfrm>
          <a:prstGeom prst="roundRect">
            <a:avLst>
              <a:gd name="adj" fmla="val 1147"/>
            </a:avLst>
          </a:prstGeom>
          <a:solidFill>
            <a:srgbClr val="C6A75E"/>
          </a:solidFill>
          <a:ln/>
        </p:spPr>
      </p:sp>
      <p:sp>
        <p:nvSpPr>
          <p:cNvPr id="3" name="Text 1"/>
          <p:cNvSpPr/>
          <p:nvPr/>
        </p:nvSpPr>
        <p:spPr>
          <a:xfrm>
            <a:off x="714357" y="2077641"/>
            <a:ext cx="5098029" cy="354409"/>
          </a:xfrm>
          <a:prstGeom prst="rect">
            <a:avLst/>
          </a:prstGeom>
          <a:noFill/>
          <a:ln/>
        </p:spPr>
        <p:txBody>
          <a:bodyPr wrap="none" lIns="0" tIns="0" rIns="0" bIns="0" rtlCol="0" anchor="t"/>
          <a:lstStyle/>
          <a:p>
            <a:pPr marL="0" indent="0" algn="l">
              <a:lnSpc>
                <a:spcPct val="104000"/>
              </a:lnSpc>
              <a:buNone/>
            </a:pPr>
            <a:r>
              <a:rPr lang="en-US" sz="2200" b="1" kern="0" spc="-89" dirty="0">
                <a:solidFill>
                  <a:srgbClr val="203D2B"/>
                </a:solidFill>
                <a:latin typeface="Libre Baskerville Bold" pitchFamily="34" charset="0"/>
                <a:ea typeface="Libre Baskerville Bold" pitchFamily="34" charset="-122"/>
                <a:cs typeface="Libre Baskerville Bold" pitchFamily="34" charset="-120"/>
              </a:rPr>
              <a:t>4. Data Preprocessing for ML</a:t>
            </a:r>
            <a:endParaRPr lang="en-US" sz="2200" dirty="0"/>
          </a:p>
        </p:txBody>
      </p:sp>
      <p:sp>
        <p:nvSpPr>
          <p:cNvPr id="4" name="Text 2"/>
          <p:cNvSpPr/>
          <p:nvPr/>
        </p:nvSpPr>
        <p:spPr>
          <a:xfrm>
            <a:off x="714357" y="2621062"/>
            <a:ext cx="5098029" cy="1133971"/>
          </a:xfrm>
          <a:prstGeom prst="rect">
            <a:avLst/>
          </a:prstGeom>
          <a:noFill/>
          <a:ln/>
        </p:spPr>
        <p:txBody>
          <a:bodyPr wrap="square" lIns="0" tIns="0" rIns="0" bIns="0" rtlCol="0" anchor="t"/>
          <a:lstStyle/>
          <a:p>
            <a:pPr marL="0" indent="0" algn="l">
              <a:lnSpc>
                <a:spcPct val="117000"/>
              </a:lnSpc>
              <a:spcAft>
                <a:spcPts val="1300"/>
              </a:spcAft>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Numerical features → StandardScaler</a:t>
            </a:r>
            <a:endParaRPr lang="en-US" sz="1450" dirty="0"/>
          </a:p>
          <a:p>
            <a:pPr marL="0" indent="0" algn="l">
              <a:lnSpc>
                <a:spcPct val="117000"/>
              </a:lnSpc>
              <a:spcAft>
                <a:spcPts val="1300"/>
              </a:spcAft>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Categorical features → OneHotEncoder</a:t>
            </a:r>
            <a:endParaRPr lang="en-US" sz="1450" dirty="0"/>
          </a:p>
          <a:p>
            <a:pPr marL="0" indent="0" algn="l">
              <a:lnSpc>
                <a:spcPct val="117000"/>
              </a:lnSpc>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Data split → 70% train, 15% validation, 15% test</a:t>
            </a:r>
            <a:endParaRPr lang="en-US" sz="1450" dirty="0"/>
          </a:p>
        </p:txBody>
      </p:sp>
      <p:sp>
        <p:nvSpPr>
          <p:cNvPr id="5" name="Shape 3"/>
          <p:cNvSpPr/>
          <p:nvPr/>
        </p:nvSpPr>
        <p:spPr>
          <a:xfrm>
            <a:off x="6196651" y="1888629"/>
            <a:ext cx="5476043" cy="2471142"/>
          </a:xfrm>
          <a:prstGeom prst="roundRect">
            <a:avLst>
              <a:gd name="adj" fmla="val 1147"/>
            </a:avLst>
          </a:prstGeom>
          <a:solidFill>
            <a:srgbClr val="C6A75E"/>
          </a:solidFill>
          <a:ln/>
        </p:spPr>
      </p:sp>
      <p:sp>
        <p:nvSpPr>
          <p:cNvPr id="6" name="Text 4"/>
          <p:cNvSpPr/>
          <p:nvPr/>
        </p:nvSpPr>
        <p:spPr>
          <a:xfrm>
            <a:off x="6385658" y="2077641"/>
            <a:ext cx="5098029" cy="354409"/>
          </a:xfrm>
          <a:prstGeom prst="rect">
            <a:avLst/>
          </a:prstGeom>
          <a:noFill/>
          <a:ln/>
        </p:spPr>
        <p:txBody>
          <a:bodyPr wrap="none" lIns="0" tIns="0" rIns="0" bIns="0" rtlCol="0" anchor="t"/>
          <a:lstStyle/>
          <a:p>
            <a:pPr marL="0" indent="0" algn="l">
              <a:lnSpc>
                <a:spcPct val="104000"/>
              </a:lnSpc>
              <a:buNone/>
            </a:pPr>
            <a:r>
              <a:rPr lang="en-US" sz="2200" b="1" kern="0" spc="-89" dirty="0">
                <a:solidFill>
                  <a:srgbClr val="203D2B"/>
                </a:solidFill>
                <a:latin typeface="Libre Baskerville Bold" pitchFamily="34" charset="0"/>
                <a:ea typeface="Libre Baskerville Bold" pitchFamily="34" charset="-122"/>
                <a:cs typeface="Libre Baskerville Bold" pitchFamily="34" charset="-120"/>
              </a:rPr>
              <a:t>Model Evaluation</a:t>
            </a:r>
            <a:endParaRPr lang="en-US" sz="2200" dirty="0"/>
          </a:p>
        </p:txBody>
      </p:sp>
      <p:sp>
        <p:nvSpPr>
          <p:cNvPr id="7" name="Text 5"/>
          <p:cNvSpPr/>
          <p:nvPr/>
        </p:nvSpPr>
        <p:spPr>
          <a:xfrm>
            <a:off x="6385658" y="2621062"/>
            <a:ext cx="5098029" cy="1568648"/>
          </a:xfrm>
          <a:prstGeom prst="rect">
            <a:avLst/>
          </a:prstGeom>
          <a:noFill/>
          <a:ln/>
        </p:spPr>
        <p:txBody>
          <a:bodyPr wrap="square" lIns="0" tIns="0" rIns="0" bIns="0" rtlCol="0" anchor="t"/>
          <a:lstStyle/>
          <a:p>
            <a:pPr marL="0" indent="0" algn="l">
              <a:lnSpc>
                <a:spcPct val="117000"/>
              </a:lnSpc>
              <a:spcAft>
                <a:spcPts val="1300"/>
              </a:spcAft>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“I evaluated the models using:</a:t>
            </a:r>
            <a:endParaRPr lang="en-US" sz="1450" dirty="0"/>
          </a:p>
          <a:p>
            <a:pPr marL="0" indent="0" algn="l">
              <a:lnSpc>
                <a:spcPct val="117000"/>
              </a:lnSpc>
              <a:spcAft>
                <a:spcPts val="1300"/>
              </a:spcAft>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R²</a:t>
            </a:r>
            <a:endParaRPr lang="en-US" sz="1450" dirty="0"/>
          </a:p>
          <a:p>
            <a:pPr marL="0" indent="0" algn="l">
              <a:lnSpc>
                <a:spcPct val="117000"/>
              </a:lnSpc>
              <a:spcAft>
                <a:spcPts val="1300"/>
              </a:spcAft>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RMSE</a:t>
            </a:r>
            <a:endParaRPr lang="en-US" sz="1450" dirty="0"/>
          </a:p>
          <a:p>
            <a:pPr marL="0" indent="0" algn="l">
              <a:lnSpc>
                <a:spcPct val="117000"/>
              </a:lnSpc>
              <a:buNone/>
            </a:pPr>
            <a:r>
              <a:rPr lang="en-US" sz="1450" kern="0" spc="-15" dirty="0">
                <a:solidFill>
                  <a:srgbClr val="000000"/>
                </a:solidFill>
                <a:latin typeface="Bricolage Grotesque Light" pitchFamily="34" charset="0"/>
                <a:ea typeface="Bricolage Grotesque Light" pitchFamily="34" charset="-122"/>
                <a:cs typeface="Bricolage Grotesque Light" pitchFamily="34" charset="-120"/>
              </a:rPr>
              <a:t>MAE”</a:t>
            </a:r>
            <a:endParaRPr lang="en-US" sz="1450" dirty="0"/>
          </a:p>
        </p:txBody>
      </p:sp>
      <p:sp>
        <p:nvSpPr>
          <p:cNvPr id="8" name="Text 6"/>
          <p:cNvSpPr/>
          <p:nvPr/>
        </p:nvSpPr>
        <p:spPr>
          <a:xfrm>
            <a:off x="661475" y="4572397"/>
            <a:ext cx="10868745" cy="1271091"/>
          </a:xfrm>
          <a:prstGeom prst="rect">
            <a:avLst/>
          </a:prstGeom>
          <a:noFill/>
          <a:ln/>
        </p:spPr>
        <p:txBody>
          <a:bodyPr wrap="square" lIns="0" tIns="0" rIns="0" bIns="0" rtlCol="0" anchor="t"/>
          <a:lstStyle/>
          <a:p>
            <a:pPr marL="0" indent="0" algn="l">
              <a:lnSpc>
                <a:spcPct val="117000"/>
              </a:lnSpc>
              <a:spcAft>
                <a:spcPts val="1650"/>
              </a:spcAft>
              <a:buNone/>
            </a:pPr>
            <a:r>
              <a:rPr lang="en-US" sz="1450" b="1" kern="0" spc="-15" dirty="0">
                <a:solidFill>
                  <a:srgbClr val="FFFFFF"/>
                </a:solidFill>
                <a:latin typeface="Bricolage Grotesque Bold" pitchFamily="34" charset="0"/>
                <a:ea typeface="Bricolage Grotesque Bold" pitchFamily="34" charset="-122"/>
                <a:cs typeface="Bricolage Grotesque Bold" pitchFamily="34" charset="-120"/>
              </a:rPr>
              <a:t>Conclusion</a:t>
            </a: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a:t>
            </a:r>
            <a:endParaRPr lang="en-US" sz="1450" dirty="0"/>
          </a:p>
          <a:p>
            <a:pPr marL="0" indent="0" algn="l">
              <a:lnSpc>
                <a:spcPct val="117000"/>
              </a:lnSpc>
              <a:buNone/>
            </a:pP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This project demonstrates a </a:t>
            </a:r>
            <a:r>
              <a:rPr lang="en-US" sz="1450" b="1" kern="0" spc="-15" dirty="0">
                <a:solidFill>
                  <a:srgbClr val="FFFFFF"/>
                </a:solidFill>
                <a:latin typeface="Bricolage Grotesque Bold" pitchFamily="34" charset="0"/>
                <a:ea typeface="Bricolage Grotesque Bold" pitchFamily="34" charset="-122"/>
                <a:cs typeface="Bricolage Grotesque Bold" pitchFamily="34" charset="-120"/>
              </a:rPr>
              <a:t>full-stack analytics pipeline</a:t>
            </a: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 — from raw data cleaning and SQL queries to Excel pivot insights, Power BI dashboards, and machine learning models. The findings highlight </a:t>
            </a:r>
            <a:r>
              <a:rPr lang="en-US" sz="1450" b="1" kern="0" spc="-15" dirty="0">
                <a:solidFill>
                  <a:srgbClr val="FFFFFF"/>
                </a:solidFill>
                <a:latin typeface="Bricolage Grotesque Bold" pitchFamily="34" charset="0"/>
                <a:ea typeface="Bricolage Grotesque Bold" pitchFamily="34" charset="-122"/>
                <a:cs typeface="Bricolage Grotesque Bold" pitchFamily="34" charset="-120"/>
              </a:rPr>
              <a:t>discount elasticity, fulfillment delays, and demographic segmentation</a:t>
            </a: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 as the most critical levers for improving </a:t>
            </a:r>
            <a:r>
              <a:rPr lang="en-US" sz="1450" b="1" kern="0" spc="-15" dirty="0">
                <a:solidFill>
                  <a:srgbClr val="FFFFFF"/>
                </a:solidFill>
                <a:latin typeface="Bricolage Grotesque Bold" pitchFamily="34" charset="0"/>
                <a:ea typeface="Bricolage Grotesque Bold" pitchFamily="34" charset="-122"/>
                <a:cs typeface="Bricolage Grotesque Bold" pitchFamily="34" charset="-120"/>
              </a:rPr>
              <a:t>customer conversion and retention</a:t>
            </a:r>
            <a:r>
              <a:rPr lang="en-US" sz="1450" kern="0" spc="-15" dirty="0">
                <a:solidFill>
                  <a:srgbClr val="FFFFFF"/>
                </a:solidFill>
                <a:latin typeface="Bricolage Grotesque Light" pitchFamily="34" charset="0"/>
                <a:ea typeface="Bricolage Grotesque Light" pitchFamily="34" charset="-122"/>
                <a:cs typeface="Bricolage Grotesque Light" pitchFamily="34" charset="-120"/>
              </a:rPr>
              <a: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TotalTime>
  <Words>2493</Words>
  <Application>Microsoft Office PowerPoint</Application>
  <PresentationFormat>Widescreen</PresentationFormat>
  <Paragraphs>353</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Libre Baskerville Bold</vt:lpstr>
      <vt:lpstr>Noto Color Emoji</vt:lpstr>
      <vt:lpstr>Arial</vt:lpstr>
      <vt:lpstr>Bricolage Grotesque Bold</vt:lpstr>
      <vt:lpstr>Bricolage Grotesque</vt:lpstr>
      <vt:lpstr>Bricolage Grotesque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lastModifiedBy>brindha k</cp:lastModifiedBy>
  <cp:revision>2</cp:revision>
  <dcterms:created xsi:type="dcterms:W3CDTF">2026-09-19T16:09:49Z</dcterms:created>
  <dcterms:modified xsi:type="dcterms:W3CDTF">2026-09-19T16:18:07Z</dcterms:modified>
</cp:coreProperties>
</file>